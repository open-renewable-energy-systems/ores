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88825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IuDzKmDDZ2o7bxZ0yOUx7bLmk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hyperlink" Target="https://github.com/open-renewable-energy-systems/ores" TargetMode="External"/><Relationship Id="rId7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577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olar panel farm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15072"/>
          <a:stretch/>
        </p:blipFill>
        <p:spPr>
          <a:xfrm>
            <a:off x="-3046" y="10"/>
            <a:ext cx="12188823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0" y="2207602"/>
            <a:ext cx="12188824" cy="316214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4901"/>
                </a:srgbClr>
              </a:gs>
              <a:gs pos="50000">
                <a:srgbClr val="000000">
                  <a:alpha val="29803"/>
                </a:srgbClr>
              </a:gs>
              <a:gs pos="75000">
                <a:srgbClr val="000000">
                  <a:alpha val="14901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type="title"/>
          </p:nvPr>
        </p:nvSpPr>
        <p:spPr>
          <a:xfrm>
            <a:off x="1096994" y="325550"/>
            <a:ext cx="10055780" cy="357477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Calibri"/>
              <a:buNone/>
            </a:pPr>
            <a:r>
              <a:rPr lang="en-US" sz="5100">
                <a:solidFill>
                  <a:srgbClr val="FFFFFF"/>
                </a:solidFill>
              </a:rPr>
              <a:t>LF Energy Open Renewable Energy Systems (ORES) WG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Calibri"/>
              <a:buNone/>
            </a:pPr>
            <a:r>
              <a:rPr lang="en-US" sz="5100">
                <a:solidFill>
                  <a:srgbClr val="FFFFFF"/>
                </a:solidFill>
              </a:rPr>
              <a:t>Annual Review, April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ue blocks and networks technology background" id="93" name="Google Shape;93;p2"/>
          <p:cNvPicPr preferRelativeResize="0"/>
          <p:nvPr/>
        </p:nvPicPr>
        <p:blipFill rotWithShape="1">
          <a:blip r:embed="rId3">
            <a:alphaModFix/>
          </a:blip>
          <a:srcRect b="-445" l="12363" r="43274" t="0"/>
          <a:stretch/>
        </p:blipFill>
        <p:spPr>
          <a:xfrm>
            <a:off x="20" y="-2"/>
            <a:ext cx="540876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5408788" y="-1"/>
            <a:ext cx="6780036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sx="95000" rotWithShape="0" algn="t" dist="152400" sy="95000">
              <a:srgbClr val="000000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6113724" y="405685"/>
            <a:ext cx="5463545" cy="155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Introduction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6113724" y="2743200"/>
            <a:ext cx="5245973" cy="3496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19"/>
              </a:buClr>
              <a:buSzPts val="1600"/>
              <a:buChar char="•"/>
            </a:pPr>
            <a:r>
              <a:rPr lang="en-US" sz="1600"/>
              <a:t>About ORES: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19"/>
              </a:buClr>
              <a:buSzPts val="1600"/>
              <a:buChar char="–"/>
            </a:pPr>
            <a:r>
              <a:rPr lang="en-US" sz="1600"/>
              <a:t>Open-source initiative under LF Energy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19"/>
              </a:buClr>
              <a:buSzPts val="1600"/>
              <a:buChar char="–"/>
            </a:pPr>
            <a:r>
              <a:rPr lang="en-US" sz="1600"/>
              <a:t>Focus on modular, interoperable renewable energy systems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19"/>
              </a:buClr>
              <a:buSzPts val="1600"/>
              <a:buChar char="–"/>
            </a:pPr>
            <a:r>
              <a:rPr lang="en-US" sz="1600"/>
              <a:t>Enables collaboration between software developers, hardware vendors, and utilities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Mission &amp; Vision: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Democratizing renewable energy integration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Standardizing architectures and APIs for scalable adoption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Bridging the gap between open-source software and utility-scale deployments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3408"/>
          <a:stretch/>
        </p:blipFill>
        <p:spPr>
          <a:xfrm>
            <a:off x="20" y="10"/>
            <a:ext cx="1218880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EEECE1">
                  <a:alpha val="67843"/>
                </a:srgbClr>
              </a:gs>
              <a:gs pos="10000">
                <a:srgbClr val="EEECE1">
                  <a:alpha val="67843"/>
                </a:srgbClr>
              </a:gs>
              <a:gs pos="85000">
                <a:srgbClr val="EEECE1">
                  <a:alpha val="96862"/>
                </a:srgbClr>
              </a:gs>
              <a:gs pos="100000">
                <a:srgbClr val="EEECE1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837981" y="365125"/>
            <a:ext cx="105128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500"/>
              <a:buFont typeface="Calibri"/>
              <a:buNone/>
            </a:pPr>
            <a:r>
              <a:rPr lang="en-US" sz="4500"/>
              <a:t>Key Updates (Year in Review): Specification</a:t>
            </a:r>
            <a:endParaRPr/>
          </a:p>
        </p:txBody>
      </p:sp>
      <p:grpSp>
        <p:nvGrpSpPr>
          <p:cNvPr id="104" name="Google Shape;104;p3"/>
          <p:cNvGrpSpPr/>
          <p:nvPr/>
        </p:nvGrpSpPr>
        <p:grpSpPr>
          <a:xfrm>
            <a:off x="838032" y="2004643"/>
            <a:ext cx="10512759" cy="3993301"/>
            <a:chOff x="51" y="179018"/>
            <a:chExt cx="10512759" cy="3993301"/>
          </a:xfrm>
        </p:grpSpPr>
        <p:sp>
          <p:nvSpPr>
            <p:cNvPr id="105" name="Google Shape;105;p3"/>
            <p:cNvSpPr/>
            <p:nvPr/>
          </p:nvSpPr>
          <p:spPr>
            <a:xfrm>
              <a:off x="51" y="179018"/>
              <a:ext cx="4912504" cy="864000"/>
            </a:xfrm>
            <a:prstGeom prst="rect">
              <a:avLst/>
            </a:prstGeom>
            <a:solidFill>
              <a:srgbClr val="BF504D"/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51" y="179018"/>
              <a:ext cx="4912504" cy="8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213350" spcFirstLastPara="1" rIns="21335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API Standardization</a:t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1" y="1043019"/>
              <a:ext cx="4912504" cy="3129300"/>
            </a:xfrm>
            <a:prstGeom prst="rect">
              <a:avLst/>
            </a:prstGeom>
            <a:solidFill>
              <a:srgbClr val="E7CFCF">
                <a:alpha val="89803"/>
              </a:srgbClr>
            </a:solidFill>
            <a:ln cap="flat" cmpd="sng" w="25400">
              <a:solidFill>
                <a:srgbClr val="E7CF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51" y="1043019"/>
              <a:ext cx="4912504" cy="3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25" lIns="160000" spcFirstLastPara="1" rIns="213350" wrap="square" tIns="16000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Defined a unified API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Leveraged IEEE 2030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Improved documentation and compliance guidelines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interoperability across platforms</a:t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600306" y="179018"/>
              <a:ext cx="4912504" cy="864000"/>
            </a:xfrm>
            <a:prstGeom prst="rect">
              <a:avLst/>
            </a:prstGeom>
            <a:solidFill>
              <a:srgbClr val="99B958"/>
            </a:solidFill>
            <a:ln cap="flat" cmpd="sng" w="25400">
              <a:solidFill>
                <a:srgbClr val="99B9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5600306" y="179018"/>
              <a:ext cx="4912504" cy="8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213350" spcFirstLastPara="1" rIns="21335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Architecture Standardization</a:t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600306" y="1043019"/>
              <a:ext cx="4912504" cy="3129300"/>
            </a:xfrm>
            <a:prstGeom prst="rect">
              <a:avLst/>
            </a:prstGeom>
            <a:solidFill>
              <a:srgbClr val="DCE4CF">
                <a:alpha val="89803"/>
              </a:srgbClr>
            </a:solidFill>
            <a:ln cap="flat" cmpd="sng" w="25400">
              <a:solidFill>
                <a:srgbClr val="DCE4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5600306" y="1043019"/>
              <a:ext cx="4912504" cy="3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25" lIns="160000" spcFirstLastPara="1" rIns="213350" wrap="square" tIns="16000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Established modular reference designs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Introduced best practices for scalability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Engaged with industry stakeholders for alignment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6767" l="0" r="0" t="6000"/>
          <a:stretch/>
        </p:blipFill>
        <p:spPr>
          <a:xfrm>
            <a:off x="20" y="10"/>
            <a:ext cx="1218880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EEECE1">
                  <a:alpha val="67843"/>
                </a:srgbClr>
              </a:gs>
              <a:gs pos="10000">
                <a:srgbClr val="EEECE1">
                  <a:alpha val="67843"/>
                </a:srgbClr>
              </a:gs>
              <a:gs pos="85000">
                <a:srgbClr val="EEECE1">
                  <a:alpha val="96862"/>
                </a:srgbClr>
              </a:gs>
              <a:gs pos="100000">
                <a:srgbClr val="EEECE1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>
            <p:ph type="title"/>
          </p:nvPr>
        </p:nvSpPr>
        <p:spPr>
          <a:xfrm>
            <a:off x="837981" y="365125"/>
            <a:ext cx="105128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Key Updates (Year in Review): Reference Implementation</a:t>
            </a:r>
            <a:endParaRPr/>
          </a:p>
        </p:txBody>
      </p:sp>
      <p:grpSp>
        <p:nvGrpSpPr>
          <p:cNvPr id="120" name="Google Shape;120;p4"/>
          <p:cNvGrpSpPr/>
          <p:nvPr/>
        </p:nvGrpSpPr>
        <p:grpSpPr>
          <a:xfrm>
            <a:off x="837981" y="1843589"/>
            <a:ext cx="10512862" cy="4315410"/>
            <a:chOff x="0" y="17964"/>
            <a:chExt cx="10512862" cy="4315410"/>
          </a:xfrm>
        </p:grpSpPr>
        <p:sp>
          <p:nvSpPr>
            <p:cNvPr id="121" name="Google Shape;121;p4"/>
            <p:cNvSpPr/>
            <p:nvPr/>
          </p:nvSpPr>
          <p:spPr>
            <a:xfrm>
              <a:off x="0" y="17964"/>
              <a:ext cx="10512862" cy="791505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38638" y="56602"/>
              <a:ext cx="10435586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DIY Systems &amp; Implementations: re</a:t>
              </a:r>
              <a:r>
                <a:rPr lang="en-US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duce</a:t>
              </a: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cost</a:t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0" y="809469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0" y="809469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3337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Developed multiple reference designs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Provided step-by-step guides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Expanded community contributions</a:t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0" y="2175669"/>
              <a:ext cx="10512862" cy="791505"/>
            </a:xfrm>
            <a:prstGeom prst="roundRect">
              <a:avLst>
                <a:gd fmla="val 16667" name="adj"/>
              </a:avLst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8638" y="2214307"/>
              <a:ext cx="10435586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System Diagrams &amp; Prototypes: reduce </a:t>
              </a:r>
              <a:r>
                <a:rPr lang="en-US" sz="3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equipment</a:t>
              </a: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cost</a:t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0" y="2967174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2967174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3337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Created detailed hardware-software interaction diagrams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Open-sourced blueprints for microgrid integrations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Enabled simulation and testing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 rot="5400000">
            <a:off x="6410700" y="1306000"/>
            <a:ext cx="2263800" cy="6642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5D0">
              <a:alpha val="89800"/>
            </a:srgbClr>
          </a:solidFill>
          <a:ln cap="flat" cmpd="sng" w="25400">
            <a:solidFill>
              <a:srgbClr val="DDE5D0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 rot="5400000">
            <a:off x="6646350" y="-877950"/>
            <a:ext cx="1792500" cy="6642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7CFCF">
              <a:alpha val="89800"/>
            </a:srgbClr>
          </a:solidFill>
          <a:ln cap="flat" cmpd="sng" w="25400">
            <a:solidFill>
              <a:srgbClr val="E7CFCF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457200" y="274650"/>
            <a:ext cx="90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Reference System Architecture Design</a:t>
            </a:r>
            <a:endParaRPr sz="4000"/>
          </a:p>
        </p:txBody>
      </p:sp>
      <p:pic>
        <p:nvPicPr>
          <p:cNvPr id="136" name="Google Shape;136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452" y="1683931"/>
            <a:ext cx="2508600" cy="452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5"/>
          <p:cNvGrpSpPr/>
          <p:nvPr/>
        </p:nvGrpSpPr>
        <p:grpSpPr>
          <a:xfrm>
            <a:off x="4221450" y="1683925"/>
            <a:ext cx="6455700" cy="4074719"/>
            <a:chOff x="3661282" y="-239989"/>
            <a:chExt cx="6455700" cy="3279980"/>
          </a:xfrm>
        </p:grpSpPr>
        <p:sp>
          <p:nvSpPr>
            <p:cNvPr id="138" name="Google Shape;138;p5"/>
            <p:cNvSpPr txBox="1"/>
            <p:nvPr/>
          </p:nvSpPr>
          <p:spPr>
            <a:xfrm>
              <a:off x="3661282" y="-239989"/>
              <a:ext cx="6194400" cy="11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47650" lvl="1" marL="22860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Application: typical Software Defined EMS applications.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Design: outdoor cabinet standard proposals.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Devices: third party ESS devices integration.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3661282" y="1250192"/>
              <a:ext cx="6455700" cy="17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47650" lvl="1" marL="22860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Documents: solution kits evaluation.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Energy Router: schematic, layout, 3d design for DEGCent's innovation SMB / AC Battery / Cascaded PCS development.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Platform: IoT platform for Software Defined EMS.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5"/>
          <p:cNvSpPr txBox="1"/>
          <p:nvPr/>
        </p:nvSpPr>
        <p:spPr>
          <a:xfrm>
            <a:off x="4221450" y="5875100"/>
            <a:ext cx="696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7650" lvl="1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Evaluation: Battery on-line, off-line performance.</a:t>
            </a:r>
            <a:endParaRPr sz="24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457200" y="274650"/>
            <a:ext cx="841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Reference System Trial Deployments</a:t>
            </a:r>
            <a:endParaRPr sz="4000"/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1763" y="4446975"/>
            <a:ext cx="1388264" cy="98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00" y="1609650"/>
            <a:ext cx="6551420" cy="3945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6650" y="1716650"/>
            <a:ext cx="3255715" cy="160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0850" y="4446975"/>
            <a:ext cx="1934300" cy="98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7"/>
          <p:cNvGrpSpPr/>
          <p:nvPr/>
        </p:nvGrpSpPr>
        <p:grpSpPr>
          <a:xfrm>
            <a:off x="7726650" y="3429006"/>
            <a:ext cx="3515283" cy="673729"/>
            <a:chOff x="0" y="1452092"/>
            <a:chExt cx="6549809" cy="1159803"/>
          </a:xfrm>
        </p:grpSpPr>
        <p:sp>
          <p:nvSpPr>
            <p:cNvPr id="151" name="Google Shape;151;p7"/>
            <p:cNvSpPr/>
            <p:nvPr/>
          </p:nvSpPr>
          <p:spPr>
            <a:xfrm>
              <a:off x="0" y="1452092"/>
              <a:ext cx="6362700" cy="115980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 txBox="1"/>
            <p:nvPr/>
          </p:nvSpPr>
          <p:spPr>
            <a:xfrm>
              <a:off x="165509" y="1452095"/>
              <a:ext cx="63843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Kit: solar panels, all-in-one Inverter, Batteries</a:t>
              </a:r>
              <a:endParaRPr sz="1200"/>
            </a:p>
          </p:txBody>
        </p:sp>
      </p:grpSp>
      <p:grpSp>
        <p:nvGrpSpPr>
          <p:cNvPr id="153" name="Google Shape;153;p7"/>
          <p:cNvGrpSpPr/>
          <p:nvPr/>
        </p:nvGrpSpPr>
        <p:grpSpPr>
          <a:xfrm>
            <a:off x="1624600" y="5693750"/>
            <a:ext cx="2795094" cy="605996"/>
            <a:chOff x="729859" y="3056095"/>
            <a:chExt cx="3438000" cy="846600"/>
          </a:xfrm>
        </p:grpSpPr>
        <p:sp>
          <p:nvSpPr>
            <p:cNvPr id="154" name="Google Shape;154;p7"/>
            <p:cNvSpPr/>
            <p:nvPr/>
          </p:nvSpPr>
          <p:spPr>
            <a:xfrm>
              <a:off x="729859" y="3056095"/>
              <a:ext cx="3438000" cy="846600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 txBox="1"/>
            <p:nvPr/>
          </p:nvSpPr>
          <p:spPr>
            <a:xfrm>
              <a:off x="1096156" y="3056095"/>
              <a:ext cx="30717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System Diagram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7750850" y="5777718"/>
            <a:ext cx="3368417" cy="551666"/>
            <a:chOff x="2091764" y="4520276"/>
            <a:chExt cx="6362707" cy="843010"/>
          </a:xfrm>
        </p:grpSpPr>
        <p:sp>
          <p:nvSpPr>
            <p:cNvPr id="157" name="Google Shape;157;p7"/>
            <p:cNvSpPr/>
            <p:nvPr/>
          </p:nvSpPr>
          <p:spPr>
            <a:xfrm>
              <a:off x="2091771" y="4520276"/>
              <a:ext cx="6362700" cy="843000"/>
            </a:xfrm>
            <a:prstGeom prst="roundRect">
              <a:avLst>
                <a:gd fmla="val 10000" name="adj"/>
              </a:avLst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 txBox="1"/>
            <p:nvPr/>
          </p:nvSpPr>
          <p:spPr>
            <a:xfrm>
              <a:off x="2091764" y="4520287"/>
              <a:ext cx="63627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Deployment &amp; Production</a:t>
              </a:r>
              <a:endParaRPr sz="20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1161675" y="5844450"/>
            <a:ext cx="7452000" cy="703500"/>
          </a:xfrm>
          <a:prstGeom prst="roundRect">
            <a:avLst>
              <a:gd fmla="val 1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 txBox="1"/>
          <p:nvPr>
            <p:ph type="title"/>
          </p:nvPr>
        </p:nvSpPr>
        <p:spPr>
          <a:xfrm>
            <a:off x="457200" y="274650"/>
            <a:ext cx="11331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4059"/>
              <a:t>Energy Router</a:t>
            </a:r>
            <a:r>
              <a:rPr lang="en-US" sz="3959"/>
              <a:t>: DEGCent’s Disruptive ESS Innovation</a:t>
            </a:r>
            <a:endParaRPr sz="3959"/>
          </a:p>
        </p:txBody>
      </p:sp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1061775" y="5956950"/>
            <a:ext cx="76602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n-US" sz="2180">
                <a:solidFill>
                  <a:schemeClr val="lt1"/>
                </a:solidFill>
              </a:rPr>
              <a:t>Differentiated Competitive Advantages: Safety, Cost, Efficiency.</a:t>
            </a:r>
            <a:endParaRPr sz="2180">
              <a:solidFill>
                <a:schemeClr val="lt1"/>
              </a:solidFill>
            </a:endParaRPr>
          </a:p>
        </p:txBody>
      </p:sp>
      <p:pic>
        <p:nvPicPr>
          <p:cNvPr id="166" name="Google Shape;16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538" y="5644450"/>
            <a:ext cx="1028025" cy="9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42400" y="2150101"/>
            <a:ext cx="1278300" cy="31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3275" y="1924550"/>
            <a:ext cx="7660201" cy="3582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>
            <p:ph type="title"/>
          </p:nvPr>
        </p:nvSpPr>
        <p:spPr>
          <a:xfrm>
            <a:off x="953275" y="1221050"/>
            <a:ext cx="101988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“AC Battery” - Smart Modular Battery low-voltage Cascaded PCS Technology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657400" y="274650"/>
            <a:ext cx="1062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Standardized Cabinet &amp; Software Defined EMS</a:t>
            </a:r>
            <a:endParaRPr sz="4000"/>
          </a:p>
        </p:txBody>
      </p:sp>
      <p:sp>
        <p:nvSpPr>
          <p:cNvPr id="175" name="Google Shape;175;p8"/>
          <p:cNvSpPr/>
          <p:nvPr/>
        </p:nvSpPr>
        <p:spPr>
          <a:xfrm rot="5400000">
            <a:off x="2641902" y="3459650"/>
            <a:ext cx="915600" cy="424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7CFCF">
              <a:alpha val="89800"/>
            </a:srgbClr>
          </a:solidFill>
          <a:ln cap="flat" cmpd="sng" w="25400">
            <a:solidFill>
              <a:srgbClr val="E7CFCF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27660" r="32117" t="0"/>
          <a:stretch/>
        </p:blipFill>
        <p:spPr>
          <a:xfrm>
            <a:off x="979600" y="1844500"/>
            <a:ext cx="4029802" cy="28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8958" y="3353825"/>
            <a:ext cx="4891767" cy="28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 rotWithShape="1">
          <a:blip r:embed="rId5">
            <a:alphaModFix/>
          </a:blip>
          <a:srcRect b="49619" l="19426" r="27407" t="5074"/>
          <a:stretch/>
        </p:blipFill>
        <p:spPr>
          <a:xfrm>
            <a:off x="8614250" y="4489925"/>
            <a:ext cx="2669276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 rot="5400000">
            <a:off x="8253976" y="-80559"/>
            <a:ext cx="1126500" cy="49326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5D0">
              <a:alpha val="89800"/>
            </a:srgbClr>
          </a:solidFill>
          <a:ln cap="flat" cmpd="sng" w="25400">
            <a:solidFill>
              <a:srgbClr val="DDE5D0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979600" y="5055975"/>
            <a:ext cx="432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00" lIns="80000" spcFirstLastPara="1" rIns="80000" wrap="square" tIns="40000">
            <a:noAutofit/>
          </a:bodyPr>
          <a:lstStyle/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DIY support, Drop &amp; Play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efficiency with third party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6350925" y="1764750"/>
            <a:ext cx="50268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00" lIns="80000" spcFirstLastPara="1" rIns="80000" wrap="square" tIns="40000">
            <a:noAutofit/>
          </a:bodyPr>
          <a:lstStyle/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Home &amp; IoT compatible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Fine-grained Energy Management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>
            <p:ph type="title"/>
          </p:nvPr>
        </p:nvSpPr>
        <p:spPr>
          <a:xfrm>
            <a:off x="841028" y="256032"/>
            <a:ext cx="1050372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5760"/>
              <a:buFont typeface="Calibri"/>
              <a:buNone/>
            </a:pPr>
            <a:r>
              <a:rPr lang="en-US" sz="5760"/>
              <a:t>Growth &amp; Opportunities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 flipH="1" rot="10800000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9"/>
          <p:cNvGrpSpPr/>
          <p:nvPr/>
        </p:nvGrpSpPr>
        <p:grpSpPr>
          <a:xfrm>
            <a:off x="837981" y="1926797"/>
            <a:ext cx="10512862" cy="4356460"/>
            <a:chOff x="0" y="531"/>
            <a:chExt cx="10512862" cy="4356460"/>
          </a:xfrm>
        </p:grpSpPr>
        <p:sp>
          <p:nvSpPr>
            <p:cNvPr id="191" name="Google Shape;191;p9"/>
            <p:cNvSpPr/>
            <p:nvPr/>
          </p:nvSpPr>
          <p:spPr>
            <a:xfrm>
              <a:off x="0" y="531"/>
              <a:ext cx="10512862" cy="1244702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376522" y="280590"/>
              <a:ext cx="684586" cy="68458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1437631" y="531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 txBox="1"/>
            <p:nvPr/>
          </p:nvSpPr>
          <p:spPr>
            <a:xfrm>
              <a:off x="1437631" y="531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Expanding Vendor Collaboration:</a:t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168419" y="531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6168419" y="531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Great opportunity for hardware vendors to integrate and certify their devices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 standards reduce vendor lock-in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Ongoing discussions with manufacturers</a:t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0" y="1556410"/>
              <a:ext cx="10512862" cy="1244702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376522" y="1836468"/>
              <a:ext cx="684586" cy="68458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1437631" y="1556410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9"/>
            <p:cNvSpPr txBox="1"/>
            <p:nvPr/>
          </p:nvSpPr>
          <p:spPr>
            <a:xfrm>
              <a:off x="1437631" y="1556410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Utility Engagement &amp; Adoption:</a:t>
              </a: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168419" y="1556410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 txBox="1"/>
            <p:nvPr/>
          </p:nvSpPr>
          <p:spPr>
            <a:xfrm>
              <a:off x="6168419" y="1556410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Help needed in interfacing with utilities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Potential for pilot projects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Advocating for policy alignment</a:t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0" y="3112289"/>
              <a:ext cx="10512862" cy="1244702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376522" y="3392347"/>
              <a:ext cx="684586" cy="68458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1437631" y="3112289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 txBox="1"/>
            <p:nvPr/>
          </p:nvSpPr>
          <p:spPr>
            <a:xfrm>
              <a:off x="1437631" y="3112289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Community &amp; Ecosystem Growth:</a:t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168419" y="3112289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 txBox="1"/>
            <p:nvPr/>
          </p:nvSpPr>
          <p:spPr>
            <a:xfrm>
              <a:off x="6168419" y="3112289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Increased contributors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Growing interest from researchers and startups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documentation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58063" y="7126"/>
            <a:ext cx="11164539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EDED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66780" y="0"/>
            <a:ext cx="11152775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>
            <p:ph type="title"/>
          </p:nvPr>
        </p:nvSpPr>
        <p:spPr>
          <a:xfrm>
            <a:off x="1115277" y="548640"/>
            <a:ext cx="1016548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Call to Action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498704" y="758952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10"/>
          <p:cNvGrpSpPr/>
          <p:nvPr/>
        </p:nvGrpSpPr>
        <p:grpSpPr>
          <a:xfrm>
            <a:off x="1115277" y="2269778"/>
            <a:ext cx="10165479" cy="3993813"/>
            <a:chOff x="0" y="48"/>
            <a:chExt cx="10165479" cy="3993813"/>
          </a:xfrm>
        </p:grpSpPr>
        <p:sp>
          <p:nvSpPr>
            <p:cNvPr id="219" name="Google Shape;219;p10"/>
            <p:cNvSpPr/>
            <p:nvPr/>
          </p:nvSpPr>
          <p:spPr>
            <a:xfrm rot="5400000">
              <a:off x="6133245" y="-2278804"/>
              <a:ext cx="1558560" cy="650590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CFCF">
                <a:alpha val="89803"/>
              </a:srgbClr>
            </a:solidFill>
            <a:ln cap="flat" cmpd="sng" w="25400">
              <a:solidFill>
                <a:srgbClr val="E7CF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0"/>
            <p:cNvSpPr txBox="1"/>
            <p:nvPr/>
          </p:nvSpPr>
          <p:spPr>
            <a:xfrm>
              <a:off x="3659572" y="270952"/>
              <a:ext cx="6429824" cy="1406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Hardware Vendors: Integrate and test devices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Developers: Enhance implementations and APIs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Utilities: Collaborate on pilot projects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Researchers: Explore new use cases</a:t>
              </a: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0" y="48"/>
              <a:ext cx="3659572" cy="1948201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0"/>
            <p:cNvSpPr txBox="1"/>
            <p:nvPr/>
          </p:nvSpPr>
          <p:spPr>
            <a:xfrm>
              <a:off x="95103" y="95151"/>
              <a:ext cx="3469366" cy="1757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175250" spcFirstLastPara="1" rIns="175250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Calibri"/>
                <a:buNone/>
              </a:pPr>
              <a:r>
                <a:rPr lang="en-US" sz="4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How You Can Contribute:</a:t>
              </a: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 rot="5400000">
              <a:off x="6133245" y="-233192"/>
              <a:ext cx="1558560" cy="650590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DE5D0">
                <a:alpha val="89803"/>
              </a:srgbClr>
            </a:solidFill>
            <a:ln cap="flat" cmpd="sng" w="25400">
              <a:solidFill>
                <a:srgbClr val="DDE5D0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0"/>
            <p:cNvSpPr txBox="1"/>
            <p:nvPr/>
          </p:nvSpPr>
          <p:spPr>
            <a:xfrm>
              <a:off x="3659572" y="2316564"/>
              <a:ext cx="6429824" cy="1406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Become ISO standard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Expand industry partnerships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 more deployment guides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Engage with policymakers</a:t>
              </a: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0" y="2045660"/>
              <a:ext cx="3659572" cy="1948201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0"/>
            <p:cNvSpPr txBox="1"/>
            <p:nvPr/>
          </p:nvSpPr>
          <p:spPr>
            <a:xfrm>
              <a:off x="95103" y="2140763"/>
              <a:ext cx="3469366" cy="1757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175250" spcFirstLastPara="1" rIns="175250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Calibri"/>
                <a:buNone/>
              </a:pPr>
              <a:r>
                <a:rPr lang="en-US" sz="4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Next Steps: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0" y="0"/>
            <a:ext cx="4817633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0" y="0"/>
            <a:ext cx="4810225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>
            <p:ph type="title"/>
          </p:nvPr>
        </p:nvSpPr>
        <p:spPr>
          <a:xfrm>
            <a:off x="621630" y="1161288"/>
            <a:ext cx="3601797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Conclusion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11"/>
          <p:cNvGrpSpPr/>
          <p:nvPr/>
        </p:nvGrpSpPr>
        <p:grpSpPr>
          <a:xfrm>
            <a:off x="5302138" y="678944"/>
            <a:ext cx="6362567" cy="5509255"/>
            <a:chOff x="0" y="2288"/>
            <a:chExt cx="6362567" cy="5509255"/>
          </a:xfrm>
        </p:grpSpPr>
        <p:sp>
          <p:nvSpPr>
            <p:cNvPr id="237" name="Google Shape;237;p11"/>
            <p:cNvSpPr/>
            <p:nvPr/>
          </p:nvSpPr>
          <p:spPr>
            <a:xfrm>
              <a:off x="0" y="2288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350852" y="263253"/>
              <a:ext cx="637913" cy="63791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1339618" y="2288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1"/>
            <p:cNvSpPr txBox="1"/>
            <p:nvPr/>
          </p:nvSpPr>
          <p:spPr>
            <a:xfrm>
              <a:off x="1339618" y="2288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ORES is driving the future of open renewable energy systems.</a:t>
              </a: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0" y="1452092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350852" y="1713057"/>
              <a:ext cx="637913" cy="63791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1339618" y="1452092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1"/>
            <p:cNvSpPr txBox="1"/>
            <p:nvPr/>
          </p:nvSpPr>
          <p:spPr>
            <a:xfrm>
              <a:off x="1339618" y="1452092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Collaboration is key—developers, vendors, utilities can all contribute.</a:t>
              </a: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0" y="2901896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350852" y="3162861"/>
              <a:ext cx="637913" cy="63791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1339618" y="2901896"/>
              <a:ext cx="2863155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1"/>
            <p:cNvSpPr txBox="1"/>
            <p:nvPr/>
          </p:nvSpPr>
          <p:spPr>
            <a:xfrm>
              <a:off x="1339618" y="2901896"/>
              <a:ext cx="2863155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Join us at:</a:t>
              </a: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4202774" y="2901896"/>
              <a:ext cx="2159792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4202774" y="2901896"/>
              <a:ext cx="2159792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GitHub: </a:t>
              </a:r>
              <a:r>
                <a:rPr lang="en-US" sz="11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https://github.com/open-renewable-energy-systems/ores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LF Energy Community</a:t>
              </a: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0" y="4351700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350852" y="4612665"/>
              <a:ext cx="637913" cy="63791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1339618" y="4351700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1"/>
            <p:cNvSpPr txBox="1"/>
            <p:nvPr/>
          </p:nvSpPr>
          <p:spPr>
            <a:xfrm>
              <a:off x="1339618" y="4351700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Upcoming Events: </a:t>
              </a:r>
              <a:r>
                <a:rPr b="0" i="0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KubeCon + CloudNativeCon,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Hong Kong, China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284905" y="1050595"/>
            <a:ext cx="8072712" cy="1618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7100"/>
              <a:buFont typeface="Calibri"/>
              <a:buNone/>
            </a:pPr>
            <a:r>
              <a:rPr lang="en-US" sz="7100"/>
              <a:t>Thank You!</a:t>
            </a:r>
            <a:endParaRPr/>
          </a:p>
        </p:txBody>
      </p:sp>
      <p:sp>
        <p:nvSpPr>
          <p:cNvPr id="263" name="Google Shape;263;p12"/>
          <p:cNvSpPr txBox="1"/>
          <p:nvPr>
            <p:ph idx="1" type="body"/>
          </p:nvPr>
        </p:nvSpPr>
        <p:spPr>
          <a:xfrm>
            <a:off x="1284905" y="2969469"/>
            <a:ext cx="8072712" cy="28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