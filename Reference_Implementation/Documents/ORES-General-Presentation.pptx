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356040"/>
            <a:ext cx="10971720" cy="12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726BBC-BFB4-4AEF-9592-3021C0D6E22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" descr=""/>
          <p:cNvPicPr/>
          <p:nvPr/>
        </p:nvPicPr>
        <p:blipFill>
          <a:blip r:embed="rId2"/>
          <a:stretch/>
        </p:blipFill>
        <p:spPr>
          <a:xfrm>
            <a:off x="635400" y="6172200"/>
            <a:ext cx="1420920" cy="591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356040"/>
            <a:ext cx="10971720" cy="12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68BA41-9396-434D-AACE-9B7F3D67A54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" descr=""/>
          <p:cNvPicPr/>
          <p:nvPr/>
        </p:nvPicPr>
        <p:blipFill>
          <a:blip r:embed="rId2"/>
          <a:stretch/>
        </p:blipFill>
        <p:spPr>
          <a:xfrm>
            <a:off x="635400" y="6172200"/>
            <a:ext cx="1420920" cy="591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639914-7147-4BF6-88EB-78772D19AA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64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80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C726A0-A35F-417F-87D3-6CB22045219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8ED756-E7BC-41F0-AC81-C80E9653541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1E48E9-48B0-43F7-92F8-EFD752D6B8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04A994-A3EB-4884-ACFD-0889E1B5F0C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28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28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84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84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8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B4D0B3-867B-46CD-9B64-FC00F13FDC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E219DB-DAEA-4440-802B-6E7F7BB203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1C931D-0B8B-4FC8-B55B-7227E4F0F5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F3ECCB-826A-4420-B668-B93AAEF216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626170-67BB-44CC-95C4-ECA514A884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356040"/>
            <a:ext cx="10971720" cy="124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E3A4BCF-7835-426F-A6EB-7460F426D61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3;p15"/>
          <p:cNvSpPr/>
          <p:nvPr/>
        </p:nvSpPr>
        <p:spPr>
          <a:xfrm>
            <a:off x="11243880" y="5907960"/>
            <a:ext cx="964440" cy="964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64;p15"/>
          <p:cNvSpPr/>
          <p:nvPr/>
        </p:nvSpPr>
        <p:spPr>
          <a:xfrm rot="10800000">
            <a:off x="10270080" y="5909400"/>
            <a:ext cx="973800" cy="972360"/>
          </a:xfrm>
          <a:prstGeom prst="rtTriangl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67;p15"/>
          <p:cNvSpPr/>
          <p:nvPr/>
        </p:nvSpPr>
        <p:spPr>
          <a:xfrm>
            <a:off x="11224800" y="0"/>
            <a:ext cx="965520" cy="9655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Google Shape;69;p15" descr=""/>
          <p:cNvPicPr/>
          <p:nvPr/>
        </p:nvPicPr>
        <p:blipFill>
          <a:blip r:embed="rId2"/>
          <a:stretch/>
        </p:blipFill>
        <p:spPr>
          <a:xfrm>
            <a:off x="241920" y="6135840"/>
            <a:ext cx="1694160" cy="65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84024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33"/>
          </p:nvPr>
        </p:nvSpPr>
        <p:spPr>
          <a:xfrm>
            <a:off x="11280240" y="6201360"/>
            <a:ext cx="730080" cy="52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61F953-64B3-4493-8924-76523E73A876}" type="slidenum">
              <a:rPr b="0" lang="en" sz="1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github.com/open-renewable-energy-systems/ores/blob/Dev/Specification/ORES_Spec.md" TargetMode="External"/><Relationship Id="rId2" Type="http://schemas.openxmlformats.org/officeDocument/2006/relationships/hyperlink" Target="https://github.com/open-renewable-energy-systems/ores/tree/Dev/Reference_Implementation" TargetMode="External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hub.com/OpenKNX" TargetMode="External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github.com/open-renewable-energy-systems/gaifare_demo" TargetMode="External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ORES (Open Renewable Energy Systems)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56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354960"/>
            <a:ext cx="1097172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 is ORES?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57200" indent="-343080">
              <a:lnSpc>
                <a:spcPct val="140000"/>
              </a:lnSpc>
              <a:buClr>
                <a:srgbClr val="434343"/>
              </a:buClr>
              <a:buFont typeface="Roboto Slab Light"/>
              <a:buChar char="●"/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"/>
                <a:ea typeface="Roboto Slab"/>
              </a:rPr>
              <a:t>ORES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: </a:t>
            </a:r>
            <a:r>
              <a:rPr b="1" lang="en" sz="1800" strike="noStrike" u="non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O</a:t>
            </a:r>
            <a:r>
              <a:rPr b="0" lang="en" sz="1800" strike="noStrike" u="none">
                <a:solidFill>
                  <a:schemeClr val="dk1"/>
                </a:solidFill>
                <a:effectLst/>
                <a:uFillTx/>
                <a:latin typeface="Roboto Slab Light"/>
                <a:ea typeface="Roboto Slab Light"/>
              </a:rPr>
              <a:t>pen </a:t>
            </a:r>
            <a:r>
              <a:rPr b="1" lang="en" sz="1800" strike="noStrike" u="non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R</a:t>
            </a:r>
            <a:r>
              <a:rPr b="0" lang="en" sz="1800" strike="noStrike" u="none">
                <a:solidFill>
                  <a:schemeClr val="dk1"/>
                </a:solidFill>
                <a:effectLst/>
                <a:uFillTx/>
                <a:latin typeface="Roboto Slab Light"/>
                <a:ea typeface="Roboto Slab Light"/>
              </a:rPr>
              <a:t>enewable </a:t>
            </a:r>
            <a:r>
              <a:rPr b="1" lang="en" sz="1800" strike="noStrike" u="non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E</a:t>
            </a:r>
            <a:r>
              <a:rPr b="0" lang="en" sz="1800" strike="noStrike" u="none">
                <a:solidFill>
                  <a:schemeClr val="dk1"/>
                </a:solidFill>
                <a:effectLst/>
                <a:uFillTx/>
                <a:latin typeface="Roboto Slab Light"/>
                <a:ea typeface="Roboto Slab Light"/>
              </a:rPr>
              <a:t>nergy </a:t>
            </a:r>
            <a:r>
              <a:rPr b="1" lang="en" sz="1800" strike="noStrike" u="non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S</a:t>
            </a:r>
            <a:r>
              <a:rPr b="0" lang="en" sz="1800" strike="noStrike" u="none">
                <a:solidFill>
                  <a:schemeClr val="dk1"/>
                </a:solidFill>
                <a:effectLst/>
                <a:uFillTx/>
                <a:latin typeface="Roboto Slab Light"/>
                <a:ea typeface="Roboto Slab Light"/>
              </a:rPr>
              <a:t>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40000"/>
              </a:lnSpc>
              <a:buClr>
                <a:srgbClr val="434343"/>
              </a:buClr>
              <a:buFont typeface="Roboto Slab Light"/>
              <a:buChar char="●"/>
            </a:pPr>
            <a:r>
              <a:rPr b="0" lang="en" sz="1800" strike="noStrike" u="none">
                <a:solidFill>
                  <a:schemeClr val="dk1"/>
                </a:solidFill>
                <a:effectLst/>
                <a:uFillTx/>
                <a:latin typeface="Roboto Slab Light"/>
                <a:ea typeface="Roboto Slab Light"/>
              </a:rPr>
              <a:t>A working group u</a:t>
            </a: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nder Linux Foundation Energy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40000"/>
              </a:lnSpc>
              <a:buClr>
                <a:srgbClr val="434343"/>
              </a:buClr>
              <a:buFont typeface="Roboto Slab Light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Builds open architecture and standards for decentralized renewable energy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40000"/>
              </a:lnSpc>
              <a:buClr>
                <a:srgbClr val="434343"/>
              </a:buClr>
              <a:buFont typeface="Roboto Slab Light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Focused on </a:t>
            </a:r>
            <a:r>
              <a:rPr b="1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cloud-native software</a:t>
            </a: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 + </a:t>
            </a:r>
            <a:r>
              <a:rPr b="1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hardware abstraction</a:t>
            </a: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 + </a:t>
            </a:r>
            <a:r>
              <a:rPr b="1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interoperability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40000"/>
              </a:lnSpc>
              <a:buClr>
                <a:srgbClr val="434343"/>
              </a:buClr>
              <a:buFont typeface="Roboto Slab Light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Use cases: microgrids, home grid energy networks, community DER coordination, started currently </a:t>
            </a:r>
            <a:r>
              <a:rPr b="1" lang="en" sz="1800" strike="noStrike" u="none">
                <a:solidFill>
                  <a:srgbClr val="000000"/>
                </a:solidFill>
                <a:effectLst/>
                <a:uFillTx/>
                <a:latin typeface="Roboto Slab"/>
                <a:ea typeface="Roboto Slab"/>
              </a:rPr>
              <a:t>pilot deployments</a:t>
            </a: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Roboto Slab Light"/>
                <a:ea typeface="Roboto Slab Light"/>
              </a:rPr>
              <a:t> for </a:t>
            </a:r>
            <a:r>
              <a:rPr b="1" lang="en" sz="1800" strike="noStrike" u="none">
                <a:solidFill>
                  <a:srgbClr val="000000"/>
                </a:solidFill>
                <a:effectLst/>
                <a:uFillTx/>
                <a:latin typeface="Roboto Slab"/>
                <a:ea typeface="Roboto Slab"/>
              </a:rPr>
              <a:t>houses in California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354960"/>
            <a:ext cx="1097172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Why ORES? 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Problem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: Traditional home energy systems are siloed, inflexible, and hardware-bound: </a:t>
            </a:r>
            <a:r>
              <a:rPr b="1" lang="en" sz="1800" strike="noStrike" u="non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device &amp; deployment cost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 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Need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: </a:t>
            </a:r>
            <a:r>
              <a:rPr b="1" lang="en" sz="1800" strike="noStrike" u="non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open source, standardized, Innovation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, interoperable, and intelligent systems to integrate DERs, storage, and smart appliances.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Vision</a:t>
            </a: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: Empower households with plug-and-play, software-defined energy autonomy, and </a:t>
            </a:r>
            <a:r>
              <a:rPr b="1" lang="en" sz="1800" strike="noStrike" u="non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a total solution with cloud native &amp; AI.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354960"/>
            <a:ext cx="1097172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Roboto Slab Light"/>
                <a:ea typeface="Roboto Slab Light"/>
              </a:rPr>
              <a:t>Open Source &amp; Standardized System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Google Shape;216;p39" descr=""/>
          <p:cNvPicPr/>
          <p:nvPr/>
        </p:nvPicPr>
        <p:blipFill>
          <a:blip r:embed="rId1"/>
          <a:srcRect l="0" t="0" r="0" b="16634"/>
          <a:stretch/>
        </p:blipFill>
        <p:spPr>
          <a:xfrm>
            <a:off x="1024920" y="2275560"/>
            <a:ext cx="3644280" cy="214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217;p39"/>
          <p:cNvSpPr/>
          <p:nvPr/>
        </p:nvSpPr>
        <p:spPr>
          <a:xfrm>
            <a:off x="4853160" y="4422240"/>
            <a:ext cx="444240" cy="2732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218;p39"/>
          <p:cNvSpPr/>
          <p:nvPr/>
        </p:nvSpPr>
        <p:spPr>
          <a:xfrm>
            <a:off x="5110560" y="2030400"/>
            <a:ext cx="4125600" cy="33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Dimensions to address: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1) Hardware device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2) Compatible communication and interconnection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3) Software Defined 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4) Deployment, safety monitoring and operation maintenance.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5) </a:t>
            </a:r>
            <a:r>
              <a:rPr b="1" lang="en" sz="1600" strike="noStrike" u="none">
                <a:solidFill>
                  <a:srgbClr val="9900ff"/>
                </a:solidFill>
                <a:effectLst/>
                <a:uFillTx/>
                <a:latin typeface="Arial"/>
                <a:ea typeface="Arial"/>
              </a:rPr>
              <a:t>Cloud Native &amp; AI</a:t>
            </a:r>
            <a:r>
              <a:rPr b="0" lang="en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Battery on-line, off-line safety and performance evaluation and analysis, etc.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219;p39"/>
          <p:cNvSpPr/>
          <p:nvPr/>
        </p:nvSpPr>
        <p:spPr>
          <a:xfrm>
            <a:off x="1224000" y="4697280"/>
            <a:ext cx="32464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500" strike="noStrike" u="none">
                <a:solidFill>
                  <a:schemeClr val="dk1"/>
                </a:solidFill>
                <a:effectLst/>
                <a:uFillTx/>
                <a:latin typeface="Roboto Slab Light"/>
                <a:ea typeface="Roboto Slab Light"/>
              </a:rPr>
              <a:t>Solar Panel + Battery/BMS + PCS + </a:t>
            </a:r>
            <a:r>
              <a:rPr b="1" lang="en" sz="1500" strike="noStrike" u="none">
                <a:solidFill>
                  <a:srgbClr val="9900ff"/>
                </a:solidFill>
                <a:effectLst/>
                <a:uFillTx/>
                <a:latin typeface="Roboto Slab"/>
                <a:ea typeface="Roboto Slab"/>
              </a:rPr>
              <a:t>Software Defined EMS</a:t>
            </a:r>
            <a:r>
              <a:rPr b="1" lang="en" sz="1500" strike="noStrike" u="non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154080"/>
            <a:ext cx="10971720" cy="164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Introducing standardization proposal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11448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Open Renewable Energy Systems (ORES) working group. “Functional Specification, Architecture, and APIs.” GitHub.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  <a:hlinkClick r:id="rId1"/>
              </a:rPr>
              <a:t>https://github.com/open-renewable-energy-systems/ores/blob/Dev/Specification/ORES_Spec.md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/microinverter/status, /microinverter/energy, /microinverter/control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/energystorage/status, /energystorage/storage, /energystorage/control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/device/discovery, /device/register. /device/firmware/update, /device/security/authenticate, /device/safety/fault-detection, /device/data/logging, /device/diagnostics/remote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/hub/communicate, /hub/configure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/app/monitor, /app/notify, /app/settings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Reference implementation (related):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  <a:hlinkClick r:id="rId2"/>
              </a:rPr>
              <a:t>https://github.com/open-renewable-energy-systems/ores/tree/Dev/Reference_Implementation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355680"/>
            <a:ext cx="10971720" cy="124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Positioning related work on standardization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lvl="1" marL="864000" indent="0">
              <a:lnSpc>
                <a:spcPct val="115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Home Assistant Integrations https://www.home-assistant.io/; Matter protocol (Google): stronger focus on end-user smart home, however not on status data used for energy management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KNX: medium-sized installations, control and less (?) accounting data, available open-source stack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  <a:hlinkClick r:id="rId1"/>
              </a:rPr>
              <a:t>https://github.com/OpenKNX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EEBus: similar scope to KNX, vendor independent, but needs consortium membership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IEEE 2030.5: larger-scale systems, focus more on accounting than control, open source implementation of clients by interstore-project.eu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354960"/>
            <a:ext cx="1097172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Introducing GAIFARE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11448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Generative AI for Autonomous Renewable Energy -&gt; https://github.com/open-renewable-energy-systems/gaifare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A new initiative incubated under ORES proposed,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Uses generative AI to power intelligent agents across home devices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Enables</a:t>
            </a:r>
            <a:r>
              <a:rPr b="1" lang="en" sz="1800" strike="noStrike" u="non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 autonomous coordination of energy production, storage, and consumption, and safety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Context-aware learning: weather, pricing, usage patterns, peer negotiation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Builds on the software-defined foundation of ORES to enable the </a:t>
            </a:r>
            <a:r>
              <a:rPr b="0" i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next-gen autonomous grid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  <a:tabLst>
                <a:tab algn="l" pos="0"/>
              </a:tabLst>
            </a:pPr>
            <a:r>
              <a:rPr b="0" i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Demo (mockup)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 https://open-renewable-energy-systems.github.io/gaifare_demo/ and (source code)</a:t>
            </a:r>
            <a:r>
              <a:rPr b="0" i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 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  <a:hlinkClick r:id="rId1"/>
              </a:rPr>
              <a:t>https://github.com/open-renewable-energy-systems/gaifare_demo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354960"/>
            <a:ext cx="10971720" cy="12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Call to Action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9663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Join us in building the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open source future of energy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Contribute to ORES projects (software, architecture, AI models, hardware protocols)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Collaborate on GAIFARE and other AI-powered workstreams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 Slab Light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Be part of a community shaping </a:t>
            </a:r>
            <a:r>
              <a:rPr b="1" lang="en" sz="1800" strike="noStrike" u="none">
                <a:solidFill>
                  <a:schemeClr val="dk2"/>
                </a:solidFill>
                <a:effectLst/>
                <a:uFillTx/>
                <a:latin typeface="Roboto Slab Light"/>
                <a:ea typeface="Roboto Slab Light"/>
              </a:rPr>
              <a:t>cloud-native, intelligent, and sustainable energy systems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oogle Shape;254;p43"/>
          <p:cNvGrpSpPr/>
          <p:nvPr/>
        </p:nvGrpSpPr>
        <p:grpSpPr>
          <a:xfrm>
            <a:off x="1533240" y="4017600"/>
            <a:ext cx="1267200" cy="1514880"/>
            <a:chOff x="1533240" y="4017600"/>
            <a:chExt cx="1267200" cy="1514880"/>
          </a:xfrm>
        </p:grpSpPr>
        <p:pic>
          <p:nvPicPr>
            <p:cNvPr id="90" name="Google Shape;255;p 1" descr=""/>
            <p:cNvPicPr/>
            <p:nvPr/>
          </p:nvPicPr>
          <p:blipFill>
            <a:blip r:embed="rId1">
              <a:alphaModFix amt="91000"/>
            </a:blip>
            <a:stretch/>
          </p:blipFill>
          <p:spPr>
            <a:xfrm>
              <a:off x="1533240" y="4017600"/>
              <a:ext cx="1267200" cy="1009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1" name="Google Shape;256;p 1"/>
            <p:cNvSpPr/>
            <p:nvPr/>
          </p:nvSpPr>
          <p:spPr>
            <a:xfrm>
              <a:off x="1562040" y="5136840"/>
              <a:ext cx="1209240" cy="39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2000" strike="noStrike" u="none">
                  <a:solidFill>
                    <a:schemeClr val="dk2"/>
                  </a:solidFill>
                  <a:effectLst/>
                  <a:uFillTx/>
                  <a:latin typeface="Arial"/>
                  <a:ea typeface="Arial"/>
                </a:rPr>
                <a:t>Connect!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2" name="Google Shape;257;p43" descr="A qr code on a white background&#10;&#10;AI-generated content may be incorrect."/>
          <p:cNvPicPr/>
          <p:nvPr/>
        </p:nvPicPr>
        <p:blipFill>
          <a:blip r:embed="rId2"/>
          <a:stretch/>
        </p:blipFill>
        <p:spPr>
          <a:xfrm>
            <a:off x="3637440" y="4007160"/>
            <a:ext cx="1267200" cy="11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Google Shape;258;p43"/>
          <p:cNvSpPr/>
          <p:nvPr/>
        </p:nvSpPr>
        <p:spPr>
          <a:xfrm>
            <a:off x="3396960" y="5173920"/>
            <a:ext cx="178776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ORES Github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Google Shape;259;p43" descr=""/>
          <p:cNvPicPr/>
          <p:nvPr/>
        </p:nvPicPr>
        <p:blipFill>
          <a:blip r:embed="rId3"/>
          <a:stretch/>
        </p:blipFill>
        <p:spPr>
          <a:xfrm>
            <a:off x="5580000" y="3963240"/>
            <a:ext cx="1209240" cy="12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Google Shape;260;p43"/>
          <p:cNvSpPr/>
          <p:nvPr/>
        </p:nvSpPr>
        <p:spPr>
          <a:xfrm>
            <a:off x="5376240" y="5173920"/>
            <a:ext cx="17114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ORES Website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F Energy Project Annual Review Template 2023">
  <a:themeElements>
    <a:clrScheme name="Geometric">
      <a:dk1>
        <a:srgbClr val="222222"/>
      </a:dk1>
      <a:lt1>
        <a:srgbClr val="ffffff"/>
      </a:lt1>
      <a:dk2>
        <a:srgbClr val="434343"/>
      </a:dk2>
      <a:lt2>
        <a:srgbClr val="999999"/>
      </a:lt2>
      <a:accent1>
        <a:srgbClr val="003778"/>
      </a:accent1>
      <a:accent2>
        <a:srgbClr val="0094ff"/>
      </a:accent2>
      <a:accent3>
        <a:srgbClr val="5b1de7"/>
      </a:accent3>
      <a:accent4>
        <a:srgbClr val="12e2e2"/>
      </a:accent4>
      <a:accent5>
        <a:srgbClr val="ff00aa"/>
      </a:accent5>
      <a:accent6>
        <a:srgbClr val="acde1f"/>
      </a:accent6>
      <a:hlink>
        <a:srgbClr val="0077cc"/>
      </a:hlink>
      <a:folHlink>
        <a:srgbClr val="f0629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2025-10-31T10:37:48Z</dcterms:created>
  <dc:creator>Holger Blasum</dc:creator>
  <dc:description/>
  <dc:language>en-US</dc:language>
  <cp:lastModifiedBy>Holger Blasum</cp:lastModifiedBy>
  <dcterms:modified xsi:type="dcterms:W3CDTF">2025-11-15T11:40:57Z</dcterms:modified>
  <cp:revision>23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</vt:r8>
  </property>
</Properties>
</file>