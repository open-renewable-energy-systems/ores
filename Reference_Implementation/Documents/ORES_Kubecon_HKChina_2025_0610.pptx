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Slab Light"/>
      <p:regular r:id="rId16"/>
      <p:bold r:id="rId17"/>
    </p:embeddedFon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SlabLight-bold.fntdata"/><Relationship Id="rId16" Type="http://schemas.openxmlformats.org/officeDocument/2006/relationships/font" Target="fonts/RobotoSlabLight-regular.fntdata"/><Relationship Id="rId19" Type="http://schemas.openxmlformats.org/officeDocument/2006/relationships/font" Target="fonts/RobotoSlab-bold.fntdata"/><Relationship Id="rId18" Type="http://schemas.openxmlformats.org/officeDocument/2006/relationships/font" Target="fonts/RobotoSlab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18c6c1a17_2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618c6c1a17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18c6c1a17_2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618c6c1a17_2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618c6c1a17_2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18c6c1a17_2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618c6c1a17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1e99590f6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61e99590f6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61e99590f6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1e99590f6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61e99590f6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61e99590f6_2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18c6c1a17_2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618c6c1a17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18c6c1a17_2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618c6c1a17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18c6c1a17_2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618c6c1a17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8c6c1a17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618c6c1a17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2">
  <p:cSld name="TITLE_2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598100" y="1226378"/>
            <a:ext cx="5533425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598088" y="2715913"/>
            <a:ext cx="8222175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 rot="10800000">
            <a:off x="8128789" y="1015350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4" title="ores-open-renewal-energy-systems-horizontal-color-scal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100" y="4080950"/>
            <a:ext cx="2025994" cy="84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8432941" y="4431167"/>
            <a:ext cx="724275" cy="724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 rot="10800000">
            <a:off x="7701451" y="4431125"/>
            <a:ext cx="731475" cy="7305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10000"/>
            <a:ext cx="8520525" cy="60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69" name="Google Shape;69;p15" title="ores-open-renewal-energy-systems-horizontal-color-scaled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1375" y="4602075"/>
            <a:ext cx="1271875" cy="49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265500" y="1151100"/>
            <a:ext cx="4045275" cy="15644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65500" y="2769001"/>
            <a:ext cx="4045275" cy="1269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939500" y="724200"/>
            <a:ext cx="3836925" cy="3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3025" y="-6"/>
            <a:ext cx="9209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ores-open-renewal-energy-systems-horizontal-color-scal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4" y="4433975"/>
            <a:ext cx="1464648" cy="6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Light">
  <p:cSld name="TITLE_4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 rot="10800000">
            <a:off x="8127550" y="2030375"/>
            <a:ext cx="1017675" cy="1017675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7605025" y="600"/>
            <a:ext cx="1014075" cy="101407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7" title="ores-open-renewal-energy-systems-horizontal-color-scal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100" y="1772932"/>
            <a:ext cx="5074422" cy="2115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1">
  <p:cSld name="TITLE_3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ctrTitle"/>
          </p:nvPr>
        </p:nvSpPr>
        <p:spPr>
          <a:xfrm>
            <a:off x="598100" y="1226378"/>
            <a:ext cx="5533425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598088" y="2715913"/>
            <a:ext cx="8222175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8208900" y="0"/>
            <a:ext cx="935100" cy="9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800" y="3350"/>
            <a:ext cx="935100" cy="92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581" y="4235025"/>
            <a:ext cx="2575106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ght">
  <p:cSld name="TITLE_1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8224223" y="-12"/>
            <a:ext cx="921825" cy="9218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 txBox="1"/>
          <p:nvPr>
            <p:ph type="ctrTitle"/>
          </p:nvPr>
        </p:nvSpPr>
        <p:spPr>
          <a:xfrm>
            <a:off x="598100" y="1226378"/>
            <a:ext cx="5533425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598088" y="2715913"/>
            <a:ext cx="8222175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9" title="ores-open-renewal-energy-systems-horizontal-color-scaled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174" y="4433975"/>
            <a:ext cx="1464648" cy="6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F6F7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607150" y="2148722"/>
            <a:ext cx="8222175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621" y="-1"/>
            <a:ext cx="988375" cy="9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598100" y="2152347"/>
            <a:ext cx="8222175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28800" y="0"/>
            <a:ext cx="1015200" cy="100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10000"/>
            <a:ext cx="6614100" cy="60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229975"/>
            <a:ext cx="3999825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832400" y="1229975"/>
            <a:ext cx="3999825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22"/>
          <p:cNvGrpSpPr/>
          <p:nvPr/>
        </p:nvGrpSpPr>
        <p:grpSpPr>
          <a:xfrm>
            <a:off x="6971685" y="-12"/>
            <a:ext cx="2174805" cy="1449980"/>
            <a:chOff x="6098378" y="5"/>
            <a:chExt cx="3045625" cy="2030570"/>
          </a:xfrm>
        </p:grpSpPr>
        <p:sp>
          <p:nvSpPr>
            <p:cNvPr id="117" name="Google Shape;117;p2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1" name="Google Shape;12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5950" y="0"/>
            <a:ext cx="470775" cy="4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 title="ores-open-renewal-energy-systems-horizontal-color-scal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4" y="4433975"/>
            <a:ext cx="1464648" cy="6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10000"/>
            <a:ext cx="8520525" cy="60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3" title="ores-open-renewal-energy-systems-horizontal-color-scaled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174" y="4433975"/>
            <a:ext cx="1464648" cy="6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4"/>
          <p:cNvGrpSpPr/>
          <p:nvPr/>
        </p:nvGrpSpPr>
        <p:grpSpPr>
          <a:xfrm>
            <a:off x="6098225" y="5"/>
            <a:ext cx="3045549" cy="2030519"/>
            <a:chOff x="6098378" y="5"/>
            <a:chExt cx="3045625" cy="2030570"/>
          </a:xfrm>
        </p:grpSpPr>
        <p:sp>
          <p:nvSpPr>
            <p:cNvPr id="129" name="Google Shape;129;p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24"/>
          <p:cNvSpPr txBox="1"/>
          <p:nvPr>
            <p:ph hasCustomPrompt="1" type="title"/>
          </p:nvPr>
        </p:nvSpPr>
        <p:spPr>
          <a:xfrm>
            <a:off x="311700" y="1256050"/>
            <a:ext cx="8520525" cy="20306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3369225"/>
            <a:ext cx="8520525" cy="12818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60425" y="301096"/>
            <a:ext cx="286575" cy="4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Dark" type="title">
  <p:cSld name="TITLE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 rot="10800000">
            <a:off x="8127550" y="2030375"/>
            <a:ext cx="1017675" cy="1017675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7605025" y="600"/>
            <a:ext cx="1014075" cy="101407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4" y="4155124"/>
            <a:ext cx="988375" cy="9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5494" y="2073778"/>
            <a:ext cx="4674858" cy="714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9500" y="4230575"/>
            <a:ext cx="5998725" cy="598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 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42900" y="685800"/>
            <a:ext cx="8435475" cy="3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None/>
              <a:defRPr b="0" i="0" sz="30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472450" y="4823786"/>
            <a:ext cx="548775" cy="230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/Image White">
  <p:cSld name="Two Column/Image White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5143500" y="342900"/>
            <a:ext cx="3429000" cy="449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3" type="body"/>
          </p:nvPr>
        </p:nvSpPr>
        <p:spPr>
          <a:xfrm>
            <a:off x="960459" y="342900"/>
            <a:ext cx="2571750" cy="449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43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10000"/>
            <a:ext cx="8520525" cy="60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0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335" y="4651200"/>
            <a:ext cx="970780" cy="3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/Image">
  <p:cSld name="One Column/Image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42899" y="1440180"/>
            <a:ext cx="387585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type="title"/>
          </p:nvPr>
        </p:nvSpPr>
        <p:spPr>
          <a:xfrm>
            <a:off x="342900" y="342900"/>
            <a:ext cx="3875850" cy="96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43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Overview">
  <p:cSld name="OBJECT_1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/>
          <p:nvPr/>
        </p:nvSpPr>
        <p:spPr>
          <a:xfrm>
            <a:off x="-19" y="1040700"/>
            <a:ext cx="9144000" cy="41028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462713" y="1135388"/>
            <a:ext cx="481095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  <a:lvl2pPr indent="-3238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indent="-32385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indent="-32385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indent="-32385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type="title"/>
          </p:nvPr>
        </p:nvSpPr>
        <p:spPr>
          <a:xfrm>
            <a:off x="3065625" y="110588"/>
            <a:ext cx="6078375" cy="8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 u="none" cap="none" strike="noStrik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72" name="Google Shape;172;p32"/>
          <p:cNvSpPr/>
          <p:nvPr>
            <p:ph idx="2" type="pic"/>
          </p:nvPr>
        </p:nvSpPr>
        <p:spPr>
          <a:xfrm>
            <a:off x="-5" y="-37"/>
            <a:ext cx="2786400" cy="102555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2"/>
          <p:cNvSpPr/>
          <p:nvPr>
            <p:ph idx="3" type="pic"/>
          </p:nvPr>
        </p:nvSpPr>
        <p:spPr>
          <a:xfrm>
            <a:off x="5465475" y="1135388"/>
            <a:ext cx="3483900" cy="22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2"/>
          <p:cNvSpPr txBox="1"/>
          <p:nvPr>
            <p:ph idx="4" type="subTitle"/>
          </p:nvPr>
        </p:nvSpPr>
        <p:spPr>
          <a:xfrm>
            <a:off x="5465475" y="3458963"/>
            <a:ext cx="3483900" cy="37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75" name="Google Shape;175;p32"/>
          <p:cNvSpPr txBox="1"/>
          <p:nvPr>
            <p:ph idx="5" type="subTitle"/>
          </p:nvPr>
        </p:nvSpPr>
        <p:spPr>
          <a:xfrm>
            <a:off x="5465475" y="3879956"/>
            <a:ext cx="3483900" cy="371025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None/>
              <a:defRPr b="1" sz="11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6" type="subTitle"/>
          </p:nvPr>
        </p:nvSpPr>
        <p:spPr>
          <a:xfrm>
            <a:off x="5465475" y="4300950"/>
            <a:ext cx="3483900" cy="371025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Slab"/>
              <a:buNone/>
              <a:defRPr b="1" sz="11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77" name="Google Shape;177;p32" title="ores-open-renewal-energy-systems-horizontal-color-scaled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174" y="4433975"/>
            <a:ext cx="1464648" cy="6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/Image">
  <p:cSld name="Section/Imag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3"/>
          <p:cNvSpPr txBox="1"/>
          <p:nvPr>
            <p:ph type="title"/>
          </p:nvPr>
        </p:nvSpPr>
        <p:spPr>
          <a:xfrm>
            <a:off x="342900" y="685800"/>
            <a:ext cx="843525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Gothic"/>
              <a:buNone/>
              <a:defRPr b="0" i="0" sz="3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Statemen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42900" y="3264932"/>
            <a:ext cx="8435250" cy="157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Gothic"/>
              <a:buNone/>
              <a:defRPr b="0" i="0" sz="3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 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ctrTitle"/>
          </p:nvPr>
        </p:nvSpPr>
        <p:spPr>
          <a:xfrm>
            <a:off x="1143000" y="1421175"/>
            <a:ext cx="6858000" cy="5006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entury Gothic"/>
              <a:buNone/>
              <a:defRPr b="0"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85" name="Google Shape;185;p35"/>
          <p:cNvPicPr preferRelativeResize="0"/>
          <p:nvPr/>
        </p:nvPicPr>
        <p:blipFill rotWithShape="1">
          <a:blip r:embed="rId2">
            <a:alphaModFix/>
          </a:blip>
          <a:srcRect b="7243" l="0" r="0" t="7235"/>
          <a:stretch/>
        </p:blipFill>
        <p:spPr>
          <a:xfrm>
            <a:off x="3158302" y="3533522"/>
            <a:ext cx="2830735" cy="37003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5"/>
          <p:cNvSpPr txBox="1"/>
          <p:nvPr>
            <p:ph idx="12" type="sldNum"/>
          </p:nvPr>
        </p:nvSpPr>
        <p:spPr>
          <a:xfrm>
            <a:off x="8472450" y="4823786"/>
            <a:ext cx="548775" cy="230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10000"/>
            <a:ext cx="8520525" cy="60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  <a:buNone/>
              <a:defRPr b="0" i="0" sz="3000" u="none" cap="none" strike="noStrike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9875"/>
            <a:ext cx="8520525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 Light"/>
              <a:buChar char="●"/>
              <a:defRPr b="0" i="0" sz="18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b="0"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0431" y="465119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ctrTitle"/>
          </p:nvPr>
        </p:nvSpPr>
        <p:spPr>
          <a:xfrm>
            <a:off x="445100" y="1226375"/>
            <a:ext cx="85725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300"/>
              <a:t>Empowering Sustainable Living with ORES </a:t>
            </a:r>
            <a:endParaRPr sz="3300"/>
          </a:p>
        </p:txBody>
      </p:sp>
      <p:sp>
        <p:nvSpPr>
          <p:cNvPr id="192" name="Google Shape;192;p36"/>
          <p:cNvSpPr txBox="1"/>
          <p:nvPr>
            <p:ph idx="1" type="subTitle"/>
          </p:nvPr>
        </p:nvSpPr>
        <p:spPr>
          <a:xfrm>
            <a:off x="460938" y="1821288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i="1" lang="en" sz="3300"/>
              <a:t>A Cloud-Native Approach to Software-Defined Home Energy Network</a:t>
            </a:r>
            <a:endParaRPr i="1"/>
          </a:p>
        </p:txBody>
      </p:sp>
      <p:sp>
        <p:nvSpPr>
          <p:cNvPr id="193" name="Google Shape;193;p36"/>
          <p:cNvSpPr txBox="1"/>
          <p:nvPr>
            <p:ph idx="1" type="subTitle"/>
          </p:nvPr>
        </p:nvSpPr>
        <p:spPr>
          <a:xfrm>
            <a:off x="3448925" y="4421500"/>
            <a:ext cx="45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rPr lang="en" sz="1225"/>
              <a:t>KubeCon &amp; </a:t>
            </a:r>
            <a:r>
              <a:rPr lang="en" sz="1225"/>
              <a:t>CloudNativeCon</a:t>
            </a:r>
            <a:r>
              <a:rPr lang="en" sz="1225"/>
              <a:t> China 2025 – Lightning Talk </a:t>
            </a:r>
            <a:endParaRPr sz="1225"/>
          </a:p>
        </p:txBody>
      </p:sp>
      <p:sp>
        <p:nvSpPr>
          <p:cNvPr id="194" name="Google Shape;194;p36"/>
          <p:cNvSpPr txBox="1"/>
          <p:nvPr>
            <p:ph idx="1" type="subTitle"/>
          </p:nvPr>
        </p:nvSpPr>
        <p:spPr>
          <a:xfrm>
            <a:off x="514325" y="2529062"/>
            <a:ext cx="76914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9801"/>
              <a:buNone/>
            </a:pPr>
            <a:r>
              <a:rPr lang="en" sz="2754"/>
              <a:t>Chris Xie</a:t>
            </a:r>
            <a:r>
              <a:rPr lang="en" sz="2754"/>
              <a:t>, </a:t>
            </a:r>
            <a:r>
              <a:rPr lang="en" sz="2390"/>
              <a:t>Head of Open Source Strategy</a:t>
            </a:r>
            <a:r>
              <a:rPr lang="en" sz="2936"/>
              <a:t>,</a:t>
            </a:r>
            <a:r>
              <a:rPr lang="en" sz="2936"/>
              <a:t> </a:t>
            </a:r>
            <a:r>
              <a:rPr lang="en" sz="2754"/>
              <a:t>Fut</a:t>
            </a:r>
            <a:r>
              <a:rPr lang="en" sz="2754"/>
              <a:t>urewei</a:t>
            </a:r>
            <a:endParaRPr sz="2754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9801"/>
              <a:buNone/>
            </a:pPr>
            <a:r>
              <a:rPr lang="en" sz="2754"/>
              <a:t>Karl Xiaofeng Yang, </a:t>
            </a:r>
            <a:r>
              <a:rPr lang="en" sz="2572"/>
              <a:t>CEO</a:t>
            </a:r>
            <a:r>
              <a:rPr lang="en" sz="2754"/>
              <a:t>, DEGCent</a:t>
            </a:r>
            <a:r>
              <a:rPr lang="en" sz="3300"/>
              <a:t> </a:t>
            </a:r>
            <a:r>
              <a:rPr lang="en" sz="2403"/>
              <a:t>(</a:t>
            </a:r>
            <a:r>
              <a:rPr lang="en" sz="2403"/>
              <a:t>缔森特能源科技</a:t>
            </a:r>
            <a:r>
              <a:rPr lang="en" sz="2403"/>
              <a:t>) </a:t>
            </a:r>
            <a:endParaRPr sz="2403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 sz="3300"/>
              <a:t>LF Energy ORES Working Group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410000"/>
            <a:ext cx="4586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What is ORES?</a:t>
            </a:r>
            <a:br>
              <a:rPr lang="en"/>
            </a:br>
            <a:endParaRPr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11700" y="1237450"/>
            <a:ext cx="85206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ORES</a:t>
            </a:r>
            <a:r>
              <a:rPr lang="en"/>
              <a:t>: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O</a:t>
            </a:r>
            <a:r>
              <a:rPr lang="en">
                <a:solidFill>
                  <a:srgbClr val="9900FF"/>
                </a:solidFill>
              </a:rPr>
              <a:t>pen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R</a:t>
            </a:r>
            <a:r>
              <a:rPr lang="en">
                <a:solidFill>
                  <a:srgbClr val="9900FF"/>
                </a:solidFill>
              </a:rPr>
              <a:t>enewable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E</a:t>
            </a:r>
            <a:r>
              <a:rPr lang="en">
                <a:solidFill>
                  <a:srgbClr val="9900FF"/>
                </a:solidFill>
              </a:rPr>
              <a:t>nergy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S</a:t>
            </a:r>
            <a:r>
              <a:rPr lang="en">
                <a:solidFill>
                  <a:srgbClr val="9900FF"/>
                </a:solidFill>
              </a:rPr>
              <a:t>ystems</a:t>
            </a:r>
            <a:endParaRPr>
              <a:solidFill>
                <a:srgbClr val="9900FF"/>
              </a:solidFill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Char char="●"/>
            </a:pP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A working group under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LF Energy</a:t>
            </a:r>
            <a:endParaRPr b="1">
              <a:solidFill>
                <a:srgbClr val="9900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Builds open architecture and standards for decentralized renewable energy systems</a:t>
            </a:r>
            <a:endParaRPr/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on </a:t>
            </a:r>
            <a:r>
              <a:rPr b="1" lang="en"/>
              <a:t>cloud-native software</a:t>
            </a:r>
            <a:r>
              <a:rPr lang="en"/>
              <a:t> + </a:t>
            </a:r>
            <a:r>
              <a:rPr b="1" lang="en"/>
              <a:t>hardware abstraction</a:t>
            </a:r>
            <a:r>
              <a:rPr lang="en"/>
              <a:t> + </a:t>
            </a:r>
            <a:r>
              <a:rPr b="1" lang="en"/>
              <a:t>interoperability</a:t>
            </a:r>
            <a:endParaRPr/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cases: microgrids, home grid energy networks, community DER coordination, started currently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pilot deployments</a:t>
            </a:r>
            <a:r>
              <a:rPr lang="en"/>
              <a:t> for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houses in California</a:t>
            </a:r>
            <a:endParaRPr b="1">
              <a:solidFill>
                <a:srgbClr val="9900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2" name="Google Shape;202;p37"/>
          <p:cNvSpPr txBox="1"/>
          <p:nvPr>
            <p:ph idx="4294967295" type="subTitle"/>
          </p:nvPr>
        </p:nvSpPr>
        <p:spPr>
          <a:xfrm>
            <a:off x="2552525" y="4698950"/>
            <a:ext cx="4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rPr lang="en" sz="1225">
                <a:solidFill>
                  <a:schemeClr val="lt2"/>
                </a:solidFill>
              </a:rPr>
              <a:t>KubeCon &amp; CloudNativeCon China 2025 – Lightning Talk </a:t>
            </a:r>
            <a:endParaRPr sz="122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10000"/>
            <a:ext cx="8520525" cy="60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Why ORES?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63850" y="1266450"/>
            <a:ext cx="83058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Problem</a:t>
            </a:r>
            <a:r>
              <a:rPr lang="en"/>
              <a:t>: Traditional home energy systems are siloed, inflexible, and hardware-bound: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device &amp;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deployment cost</a:t>
            </a:r>
            <a:r>
              <a:rPr lang="en"/>
              <a:t> 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Need</a:t>
            </a:r>
            <a:r>
              <a:rPr lang="en"/>
              <a:t>: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o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pen source, standardized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Innovation</a:t>
            </a:r>
            <a:r>
              <a:rPr lang="en"/>
              <a:t>, </a:t>
            </a:r>
            <a:r>
              <a:rPr lang="en"/>
              <a:t>interop</a:t>
            </a:r>
            <a:r>
              <a:rPr lang="en"/>
              <a:t>erable, and intelligent systems to integrate DERs, storage, and smart appliances.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Vision</a:t>
            </a:r>
            <a:r>
              <a:rPr lang="en"/>
              <a:t>: Empower households with plug-and-play, software-defined energy autonomy, and </a:t>
            </a: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a total solution with cloud native &amp; AI.</a:t>
            </a:r>
            <a:endParaRPr b="1">
              <a:solidFill>
                <a:srgbClr val="9900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9" name="Google Shape;209;p38"/>
          <p:cNvSpPr txBox="1"/>
          <p:nvPr>
            <p:ph idx="4294967295" type="subTitle"/>
          </p:nvPr>
        </p:nvSpPr>
        <p:spPr>
          <a:xfrm>
            <a:off x="2552525" y="4698950"/>
            <a:ext cx="4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rPr lang="en" sz="1225">
                <a:solidFill>
                  <a:schemeClr val="lt2"/>
                </a:solidFill>
              </a:rPr>
              <a:t>KubeCon &amp; CloudNativeCon China 2025 – Lightning Talk </a:t>
            </a:r>
            <a:endParaRPr sz="122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592950" y="410000"/>
            <a:ext cx="7712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2400"/>
              <a:t>Open Source &amp; Standardized System</a:t>
            </a:r>
            <a:br>
              <a:rPr lang="en"/>
            </a:b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 rotWithShape="1">
          <a:blip r:embed="rId3">
            <a:alphaModFix/>
          </a:blip>
          <a:srcRect b="16631" l="0" r="0" t="0"/>
          <a:stretch/>
        </p:blipFill>
        <p:spPr>
          <a:xfrm>
            <a:off x="592950" y="1303125"/>
            <a:ext cx="3645625" cy="214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/>
          <p:nvPr/>
        </p:nvSpPr>
        <p:spPr>
          <a:xfrm>
            <a:off x="4421200" y="3449950"/>
            <a:ext cx="445800" cy="27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218" name="Google Shape;218;p39"/>
          <p:cNvSpPr txBox="1"/>
          <p:nvPr/>
        </p:nvSpPr>
        <p:spPr>
          <a:xfrm>
            <a:off x="4678725" y="1058050"/>
            <a:ext cx="41271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Dimension</a:t>
            </a:r>
            <a:r>
              <a:rPr lang="en" sz="1600"/>
              <a:t>s to address:</a:t>
            </a:r>
            <a:endParaRPr sz="16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</a:t>
            </a:r>
            <a:r>
              <a:rPr lang="en" sz="1600"/>
              <a:t>1) </a:t>
            </a:r>
            <a:r>
              <a:rPr lang="en" sz="1600"/>
              <a:t>Hardware device level</a:t>
            </a:r>
            <a:endParaRPr sz="16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2) Compatible communication and interconnection</a:t>
            </a:r>
            <a:endParaRPr sz="16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3) Software Defined EMS</a:t>
            </a:r>
            <a:endParaRPr sz="16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4) Deployment, safety monitoring and operation maintenance.</a:t>
            </a:r>
            <a:endParaRPr sz="16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5) </a:t>
            </a:r>
            <a:r>
              <a:rPr b="1" lang="en" sz="1600">
                <a:solidFill>
                  <a:srgbClr val="9900FF"/>
                </a:solidFill>
              </a:rPr>
              <a:t>Cloud Native &amp; AI</a:t>
            </a:r>
            <a:r>
              <a:rPr lang="en" sz="1600"/>
              <a:t>: Battery on-line, off-line safety and performance evaluation and analysis, etc.</a:t>
            </a:r>
            <a:endParaRPr sz="1600"/>
          </a:p>
        </p:txBody>
      </p:sp>
      <p:sp>
        <p:nvSpPr>
          <p:cNvPr id="219" name="Google Shape;219;p39"/>
          <p:cNvSpPr txBox="1"/>
          <p:nvPr>
            <p:ph type="title"/>
          </p:nvPr>
        </p:nvSpPr>
        <p:spPr>
          <a:xfrm>
            <a:off x="791863" y="3724750"/>
            <a:ext cx="32478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1500"/>
              <a:t>Solar Panel + Battery/BMS + PCS + </a:t>
            </a:r>
            <a:r>
              <a:rPr b="1" lang="en" sz="1500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Software Defined EMS</a:t>
            </a:r>
            <a:r>
              <a:rPr b="1" lang="en" sz="1500"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 sz="2100"/>
          </a:p>
        </p:txBody>
      </p:sp>
      <p:sp>
        <p:nvSpPr>
          <p:cNvPr id="220" name="Google Shape;220;p39"/>
          <p:cNvSpPr txBox="1"/>
          <p:nvPr>
            <p:ph idx="4294967295" type="subTitle"/>
          </p:nvPr>
        </p:nvSpPr>
        <p:spPr>
          <a:xfrm>
            <a:off x="2552525" y="4698950"/>
            <a:ext cx="4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rPr lang="en" sz="1225">
                <a:solidFill>
                  <a:schemeClr val="lt2"/>
                </a:solidFill>
              </a:rPr>
              <a:t>KubeCon &amp; CloudNativeCon China 2025 – Lightning Talk </a:t>
            </a:r>
            <a:endParaRPr sz="122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448600" y="410000"/>
            <a:ext cx="67443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2500"/>
              <a:t>Pilot</a:t>
            </a:r>
            <a:r>
              <a:rPr lang="en" sz="2500"/>
              <a:t> Implementation &amp; Innovation</a:t>
            </a:r>
            <a:br>
              <a:rPr lang="en" sz="2500"/>
            </a:br>
            <a:endParaRPr sz="2500"/>
          </a:p>
        </p:txBody>
      </p:sp>
      <p:sp>
        <p:nvSpPr>
          <p:cNvPr id="227" name="Google Shape;227;p40"/>
          <p:cNvSpPr txBox="1"/>
          <p:nvPr/>
        </p:nvSpPr>
        <p:spPr>
          <a:xfrm>
            <a:off x="949501" y="3402750"/>
            <a:ext cx="38304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00" lIns="80000" spcFirstLastPara="1" rIns="80000" wrap="square" tIns="40000">
            <a:noAutofit/>
          </a:bodyPr>
          <a:lstStyle/>
          <a:p>
            <a:pPr indent="-2095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DIY support, L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V,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Drop &amp; Play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Font typeface="Calibri"/>
              <a:buChar char="•"/>
            </a:pPr>
            <a:r>
              <a:rPr b="1" lang="en" sz="18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Reduce deployment cost</a:t>
            </a:r>
            <a:endParaRPr b="1"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1061775" y="5956950"/>
            <a:ext cx="76602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8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Differentiated Competitive Advantages: Safety, Cost, Efficiency.</a:t>
            </a:r>
            <a:endParaRPr sz="218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40"/>
          <p:cNvPicPr preferRelativeResize="0"/>
          <p:nvPr/>
        </p:nvPicPr>
        <p:blipFill rotWithShape="1">
          <a:blip r:embed="rId3">
            <a:alphaModFix/>
          </a:blip>
          <a:srcRect b="0" l="16408" r="0" t="0"/>
          <a:stretch/>
        </p:blipFill>
        <p:spPr>
          <a:xfrm>
            <a:off x="4779850" y="1550487"/>
            <a:ext cx="2927075" cy="204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0"/>
          <p:cNvSpPr txBox="1"/>
          <p:nvPr/>
        </p:nvSpPr>
        <p:spPr>
          <a:xfrm>
            <a:off x="908950" y="832550"/>
            <a:ext cx="74808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b="1" lang="en" sz="1600">
                <a:solidFill>
                  <a:srgbClr val="9900F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AC Battery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” - </a:t>
            </a:r>
            <a:r>
              <a:rPr lang="en" sz="1600">
                <a:solidFill>
                  <a:srgbClr val="9900F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Smart Modular Battery low-voltage Cascaded PCS Technology</a:t>
            </a:r>
            <a:endParaRPr sz="16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0"/>
          <p:cNvSpPr txBox="1"/>
          <p:nvPr/>
        </p:nvSpPr>
        <p:spPr>
          <a:xfrm>
            <a:off x="4775113" y="3402750"/>
            <a:ext cx="34194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-2095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Increase Safety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095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800"/>
              <a:buFont typeface="Calibri"/>
              <a:buChar char="•"/>
            </a:pPr>
            <a:r>
              <a:rPr b="1" lang="en" sz="18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Reduce equipment cost</a:t>
            </a:r>
            <a:endParaRPr b="1"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3276" y="1656925"/>
            <a:ext cx="2572199" cy="182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0"/>
          <p:cNvSpPr txBox="1"/>
          <p:nvPr>
            <p:ph idx="4294967295" type="subTitle"/>
          </p:nvPr>
        </p:nvSpPr>
        <p:spPr>
          <a:xfrm>
            <a:off x="2552525" y="4698950"/>
            <a:ext cx="4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rPr lang="en" sz="1225">
                <a:solidFill>
                  <a:schemeClr val="lt2"/>
                </a:solidFill>
              </a:rPr>
              <a:t>KubeCon &amp; CloudNativeCon China 2025 – Lightning Talk </a:t>
            </a:r>
            <a:endParaRPr sz="122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title"/>
          </p:nvPr>
        </p:nvSpPr>
        <p:spPr>
          <a:xfrm>
            <a:off x="389450" y="986025"/>
            <a:ext cx="40452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900"/>
              <a:t>Cloud-Native Home Energy Architecture</a:t>
            </a:r>
            <a:endParaRPr sz="2900"/>
          </a:p>
        </p:txBody>
      </p:sp>
      <p:sp>
        <p:nvSpPr>
          <p:cNvPr id="239" name="Google Shape;239;p41"/>
          <p:cNvSpPr txBox="1"/>
          <p:nvPr>
            <p:ph idx="1" type="subTitle"/>
          </p:nvPr>
        </p:nvSpPr>
        <p:spPr>
          <a:xfrm>
            <a:off x="518150" y="2508725"/>
            <a:ext cx="39165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0526"/>
              <a:buNone/>
            </a:pPr>
            <a:r>
              <a:rPr lang="en" sz="1900"/>
              <a:t>Requirements &amp; Expectation</a:t>
            </a:r>
            <a:endParaRPr sz="19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0526"/>
              <a:buNone/>
            </a:pPr>
            <a:r>
              <a:t/>
            </a:r>
            <a:endParaRPr sz="19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0526"/>
              <a:buNone/>
            </a:pPr>
            <a:r>
              <a:rPr b="1" lang="en" sz="1900">
                <a:solidFill>
                  <a:srgbClr val="5B1DE7"/>
                </a:solidFill>
                <a:latin typeface="Roboto Slab"/>
                <a:ea typeface="Roboto Slab"/>
                <a:cs typeface="Roboto Slab"/>
                <a:sym typeface="Roboto Slab"/>
              </a:rPr>
              <a:t>Deployment, monitoring, </a:t>
            </a:r>
            <a:endParaRPr b="1" sz="1900">
              <a:solidFill>
                <a:srgbClr val="5B1DE7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0526"/>
              <a:buNone/>
            </a:pPr>
            <a:r>
              <a:rPr b="1" lang="en" sz="1900">
                <a:solidFill>
                  <a:srgbClr val="5B1DE7"/>
                </a:solidFill>
                <a:latin typeface="Roboto Slab"/>
                <a:ea typeface="Roboto Slab"/>
                <a:cs typeface="Roboto Slab"/>
                <a:sym typeface="Roboto Slab"/>
              </a:rPr>
              <a:t>maintenance</a:t>
            </a:r>
            <a:r>
              <a:rPr b="1" lang="en" sz="1900">
                <a:solidFill>
                  <a:srgbClr val="5B1DE7"/>
                </a:solidFill>
                <a:latin typeface="Roboto Slab"/>
                <a:ea typeface="Roboto Slab"/>
                <a:cs typeface="Roboto Slab"/>
                <a:sym typeface="Roboto Slab"/>
              </a:rPr>
              <a:t>, safety</a:t>
            </a:r>
            <a:endParaRPr b="1" sz="1900">
              <a:solidFill>
                <a:srgbClr val="5B1DE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0" name="Google Shape;240;p41"/>
          <p:cNvSpPr txBox="1"/>
          <p:nvPr>
            <p:ph idx="2" type="body"/>
          </p:nvPr>
        </p:nvSpPr>
        <p:spPr>
          <a:xfrm>
            <a:off x="4665425" y="724200"/>
            <a:ext cx="41109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Software-Defined EMS </a:t>
            </a:r>
            <a:r>
              <a:rPr b="1" lang="en" sz="1300"/>
              <a:t>(Energy Management System)</a:t>
            </a:r>
            <a:endParaRPr sz="1300"/>
          </a:p>
          <a:p>
            <a:pPr indent="-3429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300"/>
              <a:t>Built on Kubernetes-native architecture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300"/>
              <a:t>RESTful APIs, declarative energy states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300"/>
              <a:t>Flexible plug-in model for energy devices (inverters, batteries, EVs, HVAC, etc.)</a:t>
            </a:r>
            <a:endParaRPr/>
          </a:p>
          <a:p>
            <a:pPr indent="0" lvl="0" marL="1143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1143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To the Edge (Hardware):</a:t>
            </a:r>
            <a:r>
              <a:rPr lang="en" sz="1300"/>
              <a:t> Modular smart devices with firmware agents</a:t>
            </a:r>
            <a:r>
              <a:rPr lang="en" sz="1300"/>
              <a:t>,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"Energy IoT"</a:t>
            </a:r>
            <a:endParaRPr b="1"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1143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300"/>
          </a:p>
          <a:p>
            <a:pPr indent="0" lvl="0" marL="1143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To the Cloud:</a:t>
            </a:r>
            <a:r>
              <a:rPr lang="en" sz="1300"/>
              <a:t> Real-time telemetry, distributed orchestration, resilience at scale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Introducing GAIFARE</a:t>
            </a:r>
            <a:endParaRPr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280350" y="1266450"/>
            <a:ext cx="8520600" cy="30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Generative AI for Autonomous Renewable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new initiative incubated under ORES proposed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generative AI to power intelligent agents across home devices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</a:t>
            </a:r>
            <a:r>
              <a:rPr b="1" lang="en">
                <a:solidFill>
                  <a:srgbClr val="5B1DE7"/>
                </a:solidFill>
                <a:latin typeface="Roboto Slab"/>
                <a:ea typeface="Roboto Slab"/>
                <a:cs typeface="Roboto Slab"/>
                <a:sym typeface="Roboto Slab"/>
              </a:rPr>
              <a:t> autonomous coordination of energy production, storage, and consumption, and safety</a:t>
            </a:r>
            <a:endParaRPr b="1">
              <a:solidFill>
                <a:srgbClr val="5B1DE7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Context-aware learning: weather, pricing, usage patterns, peer negotiation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Builds on the software-defined foundation of ORES to enable the </a:t>
            </a:r>
            <a:r>
              <a:rPr i="1" lang="en"/>
              <a:t>next-gen autonomous grid</a:t>
            </a:r>
            <a:endParaRPr/>
          </a:p>
        </p:txBody>
      </p:sp>
      <p:sp>
        <p:nvSpPr>
          <p:cNvPr id="247" name="Google Shape;247;p42"/>
          <p:cNvSpPr txBox="1"/>
          <p:nvPr>
            <p:ph idx="4294967295" type="subTitle"/>
          </p:nvPr>
        </p:nvSpPr>
        <p:spPr>
          <a:xfrm>
            <a:off x="2552525" y="4698950"/>
            <a:ext cx="4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rPr lang="en" sz="1225">
                <a:solidFill>
                  <a:schemeClr val="lt2"/>
                </a:solidFill>
              </a:rPr>
              <a:t>KubeCon &amp; CloudNativeCon China 2025 – Lightning Talk </a:t>
            </a:r>
            <a:endParaRPr sz="122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/>
          <p:nvPr>
            <p:ph type="title"/>
          </p:nvPr>
        </p:nvSpPr>
        <p:spPr>
          <a:xfrm>
            <a:off x="311700" y="410000"/>
            <a:ext cx="51690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9900FF"/>
                </a:solidFill>
                <a:latin typeface="Roboto Slab"/>
                <a:ea typeface="Roboto Slab"/>
                <a:cs typeface="Roboto Slab"/>
                <a:sym typeface="Roboto Slab"/>
              </a:rPr>
              <a:t>Call to Action</a:t>
            </a:r>
            <a:endParaRPr b="1">
              <a:solidFill>
                <a:srgbClr val="9900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3" name="Google Shape;253;p43"/>
          <p:cNvSpPr txBox="1"/>
          <p:nvPr>
            <p:ph idx="1" type="body"/>
          </p:nvPr>
        </p:nvSpPr>
        <p:spPr>
          <a:xfrm>
            <a:off x="311700" y="95195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Join us in building the </a:t>
            </a:r>
            <a:r>
              <a:rPr b="1" lang="en"/>
              <a:t>open source future of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Contribute to ORES projects (software, architecture, AI models, hardware protocols)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Collaborate on GAIFARE and other AI-powered workstreams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part of a community shaping </a:t>
            </a:r>
            <a:r>
              <a:rPr b="1" lang="en"/>
              <a:t>cloud-native, intelligent, and sustainable energy systems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254" name="Google Shape;254;p43"/>
          <p:cNvGrpSpPr/>
          <p:nvPr/>
        </p:nvGrpSpPr>
        <p:grpSpPr>
          <a:xfrm>
            <a:off x="1713105" y="2973646"/>
            <a:ext cx="1268606" cy="1519093"/>
            <a:chOff x="11098471" y="5294669"/>
            <a:chExt cx="1558868" cy="2342111"/>
          </a:xfrm>
        </p:grpSpPr>
        <p:pic>
          <p:nvPicPr>
            <p:cNvPr id="255" name="Google Shape;255;p43"/>
            <p:cNvPicPr preferRelativeResize="0"/>
            <p:nvPr/>
          </p:nvPicPr>
          <p:blipFill rotWithShape="1">
            <a:blip r:embed="rId3">
              <a:alphaModFix amt="91000"/>
            </a:blip>
            <a:srcRect b="0" l="0" r="0" t="0"/>
            <a:stretch/>
          </p:blipFill>
          <p:spPr>
            <a:xfrm>
              <a:off x="11098471" y="5294669"/>
              <a:ext cx="1558868" cy="1558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43"/>
            <p:cNvSpPr txBox="1"/>
            <p:nvPr/>
          </p:nvSpPr>
          <p:spPr>
            <a:xfrm>
              <a:off x="11134095" y="7019980"/>
              <a:ext cx="1487700" cy="6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0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Connect!</a:t>
              </a:r>
              <a:endParaRPr/>
            </a:p>
          </p:txBody>
        </p:sp>
      </p:grpSp>
      <p:pic>
        <p:nvPicPr>
          <p:cNvPr descr="A qr code on a white background&#10;&#10;AI-generated content may be incorrect." id="257" name="Google Shape;2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7513" y="2963110"/>
            <a:ext cx="1268569" cy="112304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3"/>
          <p:cNvSpPr txBox="1"/>
          <p:nvPr/>
        </p:nvSpPr>
        <p:spPr>
          <a:xfrm>
            <a:off x="3576975" y="4129925"/>
            <a:ext cx="178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ORES Github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0141" y="2919338"/>
            <a:ext cx="1210588" cy="121058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3"/>
          <p:cNvSpPr txBox="1"/>
          <p:nvPr/>
        </p:nvSpPr>
        <p:spPr>
          <a:xfrm>
            <a:off x="5556117" y="4129928"/>
            <a:ext cx="171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ORES Website</a:t>
            </a:r>
            <a:endParaRPr/>
          </a:p>
        </p:txBody>
      </p:sp>
      <p:sp>
        <p:nvSpPr>
          <p:cNvPr id="261" name="Google Shape;261;p43"/>
          <p:cNvSpPr txBox="1"/>
          <p:nvPr>
            <p:ph idx="4294967295" type="subTitle"/>
          </p:nvPr>
        </p:nvSpPr>
        <p:spPr>
          <a:xfrm>
            <a:off x="2552525" y="4698950"/>
            <a:ext cx="4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rPr lang="en" sz="1225">
                <a:solidFill>
                  <a:schemeClr val="lt2"/>
                </a:solidFill>
              </a:rPr>
              <a:t>KubeCon &amp; CloudNativeCon China 2025 – Lightning Talk </a:t>
            </a:r>
            <a:endParaRPr sz="1225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1538850" y="1937600"/>
            <a:ext cx="53994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1143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sz="4150"/>
              <a:t>Thank you!</a:t>
            </a:r>
            <a:endParaRPr sz="26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F Energy Project Annual Review Template 2023">
  <a:themeElements>
    <a:clrScheme name="Geometric">
      <a:dk1>
        <a:srgbClr val="222222"/>
      </a:dk1>
      <a:lt1>
        <a:srgbClr val="FFFFFF"/>
      </a:lt1>
      <a:dk2>
        <a:srgbClr val="434343"/>
      </a:dk2>
      <a:lt2>
        <a:srgbClr val="999999"/>
      </a:lt2>
      <a:accent1>
        <a:srgbClr val="003778"/>
      </a:accent1>
      <a:accent2>
        <a:srgbClr val="0094FF"/>
      </a:accent2>
      <a:accent3>
        <a:srgbClr val="5B1DE7"/>
      </a:accent3>
      <a:accent4>
        <a:srgbClr val="12E2E2"/>
      </a:accent4>
      <a:accent5>
        <a:srgbClr val="FF00AA"/>
      </a:accent5>
      <a:accent6>
        <a:srgbClr val="ACDE1F"/>
      </a:accent6>
      <a:hlink>
        <a:srgbClr val="0077CC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