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4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2362"/>
    <a:srgbClr val="172F72"/>
    <a:srgbClr val="192969"/>
    <a:srgbClr val="FFFAE9"/>
    <a:srgbClr val="1A2566"/>
    <a:srgbClr val="333EAF"/>
    <a:srgbClr val="1C2261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84"/>
        <p:guide pos="38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0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2024-04-18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image" Target="../media/image1.jpeg"/><Relationship Id="rId57" Type="http://schemas.openxmlformats.org/officeDocument/2006/relationships/notesSlide" Target="../notesSlides/notesSlide1.xml"/><Relationship Id="rId56" Type="http://schemas.openxmlformats.org/officeDocument/2006/relationships/slideLayout" Target="../slideLayouts/slideLayout1.xml"/><Relationship Id="rId55" Type="http://schemas.openxmlformats.org/officeDocument/2006/relationships/tags" Target="../tags/tag106.xml"/><Relationship Id="rId54" Type="http://schemas.openxmlformats.org/officeDocument/2006/relationships/tags" Target="../tags/tag105.xml"/><Relationship Id="rId53" Type="http://schemas.openxmlformats.org/officeDocument/2006/relationships/tags" Target="../tags/tag104.xml"/><Relationship Id="rId52" Type="http://schemas.openxmlformats.org/officeDocument/2006/relationships/tags" Target="../tags/tag103.xml"/><Relationship Id="rId51" Type="http://schemas.openxmlformats.org/officeDocument/2006/relationships/tags" Target="../tags/tag102.xml"/><Relationship Id="rId50" Type="http://schemas.openxmlformats.org/officeDocument/2006/relationships/tags" Target="../tags/tag101.xml"/><Relationship Id="rId5" Type="http://schemas.openxmlformats.org/officeDocument/2006/relationships/tags" Target="../tags/tag67.xml"/><Relationship Id="rId49" Type="http://schemas.openxmlformats.org/officeDocument/2006/relationships/tags" Target="../tags/tag100.xml"/><Relationship Id="rId48" Type="http://schemas.openxmlformats.org/officeDocument/2006/relationships/tags" Target="../tags/tag99.xml"/><Relationship Id="rId47" Type="http://schemas.openxmlformats.org/officeDocument/2006/relationships/tags" Target="../tags/tag98.xml"/><Relationship Id="rId46" Type="http://schemas.openxmlformats.org/officeDocument/2006/relationships/tags" Target="../tags/tag97.xml"/><Relationship Id="rId45" Type="http://schemas.openxmlformats.org/officeDocument/2006/relationships/tags" Target="../tags/tag96.xml"/><Relationship Id="rId44" Type="http://schemas.openxmlformats.org/officeDocument/2006/relationships/tags" Target="../tags/tag95.xml"/><Relationship Id="rId43" Type="http://schemas.openxmlformats.org/officeDocument/2006/relationships/tags" Target="../tags/tag94.xml"/><Relationship Id="rId42" Type="http://schemas.openxmlformats.org/officeDocument/2006/relationships/tags" Target="../tags/tag93.xml"/><Relationship Id="rId41" Type="http://schemas.openxmlformats.org/officeDocument/2006/relationships/tags" Target="../tags/tag92.xml"/><Relationship Id="rId40" Type="http://schemas.openxmlformats.org/officeDocument/2006/relationships/tags" Target="../tags/tag91.xml"/><Relationship Id="rId4" Type="http://schemas.openxmlformats.org/officeDocument/2006/relationships/tags" Target="../tags/tag66.xml"/><Relationship Id="rId39" Type="http://schemas.openxmlformats.org/officeDocument/2006/relationships/tags" Target="../tags/tag90.xml"/><Relationship Id="rId38" Type="http://schemas.openxmlformats.org/officeDocument/2006/relationships/tags" Target="../tags/tag89.xml"/><Relationship Id="rId37" Type="http://schemas.openxmlformats.org/officeDocument/2006/relationships/image" Target="../media/image11.png"/><Relationship Id="rId36" Type="http://schemas.openxmlformats.org/officeDocument/2006/relationships/tags" Target="../tags/tag88.xml"/><Relationship Id="rId35" Type="http://schemas.openxmlformats.org/officeDocument/2006/relationships/image" Target="../media/image10.png"/><Relationship Id="rId34" Type="http://schemas.openxmlformats.org/officeDocument/2006/relationships/image" Target="../media/image9.png"/><Relationship Id="rId33" Type="http://schemas.openxmlformats.org/officeDocument/2006/relationships/image" Target="../media/image8.png"/><Relationship Id="rId32" Type="http://schemas.openxmlformats.org/officeDocument/2006/relationships/tags" Target="../tags/tag87.xml"/><Relationship Id="rId31" Type="http://schemas.openxmlformats.org/officeDocument/2006/relationships/tags" Target="../tags/tag86.xml"/><Relationship Id="rId30" Type="http://schemas.openxmlformats.org/officeDocument/2006/relationships/image" Target="../media/image7.png"/><Relationship Id="rId3" Type="http://schemas.openxmlformats.org/officeDocument/2006/relationships/tags" Target="../tags/tag65.xml"/><Relationship Id="rId29" Type="http://schemas.openxmlformats.org/officeDocument/2006/relationships/tags" Target="../tags/tag8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image" Target="../media/image6.png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64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image" Target="../media/image3.png"/><Relationship Id="rId10" Type="http://schemas.openxmlformats.org/officeDocument/2006/relationships/tags" Target="../tags/tag70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圆角矩形 71"/>
          <p:cNvSpPr/>
          <p:nvPr>
            <p:custDataLst>
              <p:tags r:id="rId1"/>
            </p:custDataLst>
          </p:nvPr>
        </p:nvSpPr>
        <p:spPr>
          <a:xfrm>
            <a:off x="1995170" y="4004945"/>
            <a:ext cx="1183640" cy="1313180"/>
          </a:xfrm>
          <a:prstGeom prst="roundRect">
            <a:avLst>
              <a:gd name="adj" fmla="val 4405"/>
            </a:avLst>
          </a:prstGeom>
          <a:solidFill>
            <a:schemeClr val="bg1">
              <a:lumMod val="95000"/>
            </a:schemeClr>
          </a:solidFill>
          <a:ln w="127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7" name="圆角矩形 66"/>
          <p:cNvSpPr/>
          <p:nvPr>
            <p:custDataLst>
              <p:tags r:id="rId2"/>
            </p:custDataLst>
          </p:nvPr>
        </p:nvSpPr>
        <p:spPr>
          <a:xfrm>
            <a:off x="4526915" y="1882140"/>
            <a:ext cx="2068195" cy="956310"/>
          </a:xfrm>
          <a:prstGeom prst="roundRect">
            <a:avLst>
              <a:gd name="adj" fmla="val 3323"/>
            </a:avLst>
          </a:prstGeom>
          <a:solidFill>
            <a:srgbClr val="FFFAE9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5" name="圆角矩形 44"/>
          <p:cNvSpPr/>
          <p:nvPr>
            <p:custDataLst>
              <p:tags r:id="rId3"/>
            </p:custDataLst>
          </p:nvPr>
        </p:nvSpPr>
        <p:spPr>
          <a:xfrm>
            <a:off x="2154555" y="4546600"/>
            <a:ext cx="802640" cy="648970"/>
          </a:xfrm>
          <a:prstGeom prst="roundRect">
            <a:avLst>
              <a:gd name="adj" fmla="val 6803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1040"/>
              </a:lnSpc>
            </a:pPr>
            <a:r>
              <a:rPr lang="en-US" altLang="zh-CN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BMS</a:t>
            </a:r>
            <a:endParaRPr lang="en-US" altLang="zh-CN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7" name="圆角矩形 46"/>
          <p:cNvSpPr/>
          <p:nvPr>
            <p:custDataLst>
              <p:tags r:id="rId4"/>
            </p:custDataLst>
          </p:nvPr>
        </p:nvSpPr>
        <p:spPr>
          <a:xfrm>
            <a:off x="2089785" y="2231390"/>
            <a:ext cx="1033145" cy="4597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Micro</a:t>
            </a:r>
            <a:endParaRPr lang="en-US" altLang="zh-CN" sz="12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Inverter</a:t>
            </a:r>
            <a:endParaRPr lang="en-US" altLang="zh-CN" sz="1200" baseline="30000">
              <a:solidFill>
                <a:schemeClr val="tx1"/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9" name="图片 48"/>
          <p:cNvPicPr/>
          <p:nvPr>
            <p:custDataLst>
              <p:tags r:id="rId5"/>
            </p:custDataLst>
          </p:nvPr>
        </p:nvPicPr>
        <p:blipFill>
          <a:blip r:embed="rId6">
            <a:alphaModFix amt="30000"/>
            <a:grayscl/>
            <a:lum bright="-6000" contrast="-6000"/>
          </a:blip>
          <a:stretch>
            <a:fillRect/>
          </a:stretch>
        </p:blipFill>
        <p:spPr>
          <a:xfrm>
            <a:off x="7576820" y="1442085"/>
            <a:ext cx="805815" cy="76708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6" name="直接箭头连接符 55"/>
          <p:cNvCxnSpPr/>
          <p:nvPr>
            <p:custDataLst>
              <p:tags r:id="rId7"/>
            </p:custDataLst>
          </p:nvPr>
        </p:nvCxnSpPr>
        <p:spPr>
          <a:xfrm flipV="1">
            <a:off x="7965440" y="2209165"/>
            <a:ext cx="0" cy="1155700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>
            <p:custDataLst>
              <p:tags r:id="rId8"/>
            </p:custDataLst>
          </p:nvPr>
        </p:nvPicPr>
        <p:blipFill>
          <a:blip r:embed="rId9">
            <a:grayscl/>
          </a:blip>
          <a:srcRect l="24160" t="26450" r="14460" b="30350"/>
          <a:stretch>
            <a:fillRect/>
          </a:stretch>
        </p:blipFill>
        <p:spPr>
          <a:xfrm>
            <a:off x="2287905" y="4719320"/>
            <a:ext cx="535940" cy="434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图片 27" descr="充电强图片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005445" y="4657725"/>
            <a:ext cx="419735" cy="4870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cxnSp>
        <p:nvCxnSpPr>
          <p:cNvPr id="27" name="直接连接符 26"/>
          <p:cNvCxnSpPr/>
          <p:nvPr>
            <p:custDataLst>
              <p:tags r:id="rId12"/>
            </p:custDataLst>
          </p:nvPr>
        </p:nvCxnSpPr>
        <p:spPr>
          <a:xfrm flipV="1">
            <a:off x="2030095" y="3429000"/>
            <a:ext cx="647446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747760" y="3685540"/>
            <a:ext cx="920115" cy="584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Smart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  <a:p>
            <a:pPr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Electric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  <a:p>
            <a:pPr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Panel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701925" y="3161030"/>
            <a:ext cx="1643380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ClrTx/>
              <a:buSzTx/>
              <a:buFontTx/>
            </a:pPr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240V </a:t>
            </a:r>
            <a:r>
              <a:rPr lang="en-US" altLang="zh-CN" sz="8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split phase AC Bus</a:t>
            </a:r>
            <a:endParaRPr lang="en-US" altLang="zh-CN" sz="8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15"/>
            </p:custDataLst>
          </p:nvPr>
        </p:nvSpPr>
        <p:spPr>
          <a:xfrm>
            <a:off x="2153920" y="4134485"/>
            <a:ext cx="803275" cy="2476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1640"/>
              </a:lnSpc>
            </a:pPr>
            <a:r>
              <a:rPr lang="en-US" altLang="zh-CN" sz="12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PCS</a:t>
            </a:r>
            <a:endParaRPr lang="en-US" altLang="zh-CN" sz="1200" baseline="30000">
              <a:solidFill>
                <a:schemeClr val="tx1"/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6">
            <a:grayscl/>
          </a:blip>
          <a:srcRect l="28704" t="14478" r="28056" b="23605"/>
          <a:stretch>
            <a:fillRect/>
          </a:stretch>
        </p:blipFill>
        <p:spPr>
          <a:xfrm>
            <a:off x="6845300" y="4431665"/>
            <a:ext cx="501015" cy="823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17">
            <a:grayscl/>
          </a:blip>
          <a:srcRect l="7319" t="20830" r="7289" b="20830"/>
          <a:stretch>
            <a:fillRect/>
          </a:stretch>
        </p:blipFill>
        <p:spPr>
          <a:xfrm>
            <a:off x="5623560" y="4542790"/>
            <a:ext cx="764540" cy="581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5452745" y="5185410"/>
            <a:ext cx="11055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Air</a:t>
            </a:r>
            <a:endParaRPr lang="en-US" altLang="zh-CN" sz="10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>
              <a:buClrTx/>
              <a:buSzTx/>
              <a:buFontTx/>
            </a:pP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Conditioner</a:t>
            </a:r>
            <a:endParaRPr lang="en-US" altLang="zh-CN" sz="10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6543675" y="5349240"/>
            <a:ext cx="11055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Refrigerator</a:t>
            </a:r>
            <a:endParaRPr lang="en-US" altLang="zh-CN" sz="10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621905" y="5195570"/>
            <a:ext cx="11258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1400" b="1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EV</a:t>
            </a:r>
            <a:endParaRPr lang="en-US" altLang="zh-CN" sz="1400" b="1">
              <a:solidFill>
                <a:srgbClr val="7030A0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sz="1400" b="1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Charger</a:t>
            </a:r>
            <a:endParaRPr lang="en-US" altLang="zh-CN" sz="1400" b="1">
              <a:solidFill>
                <a:srgbClr val="7030A0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6104255" y="3658235"/>
            <a:ext cx="648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Smart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Plug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8149590" y="2576195"/>
            <a:ext cx="598170" cy="370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Smart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  <a:p>
            <a:pPr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Meter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029460" y="1237615"/>
            <a:ext cx="1279525" cy="29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ClrTx/>
              <a:buSzTx/>
              <a:buFontTx/>
            </a:pPr>
            <a:r>
              <a:rPr lang="en-US" altLang="zh-CN" sz="1400">
                <a:solidFill>
                  <a:schemeClr val="bg1">
                    <a:lumMod val="65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Generation</a:t>
            </a:r>
            <a:endParaRPr lang="en-US" altLang="zh-CN" sz="1400">
              <a:solidFill>
                <a:schemeClr val="bg1">
                  <a:lumMod val="65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2154555" y="5349240"/>
            <a:ext cx="1096645" cy="497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Primery</a:t>
            </a:r>
            <a:endParaRPr lang="en-US" altLang="zh-CN" sz="14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Storage</a:t>
            </a:r>
            <a:endParaRPr lang="en-US" altLang="zh-CN" sz="140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23"/>
            </p:custDataLst>
          </p:nvPr>
        </p:nvSpPr>
        <p:spPr>
          <a:xfrm>
            <a:off x="8524875" y="4817110"/>
            <a:ext cx="14027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solidFill>
                  <a:schemeClr val="bg1">
                    <a:lumMod val="65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Consumption</a:t>
            </a:r>
            <a:endParaRPr lang="en-US" altLang="zh-CN" sz="1400">
              <a:solidFill>
                <a:schemeClr val="bg1">
                  <a:lumMod val="65000"/>
                </a:schemeClr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24"/>
            </p:custDataLst>
          </p:nvPr>
        </p:nvSpPr>
        <p:spPr>
          <a:xfrm>
            <a:off x="7661910" y="1166495"/>
            <a:ext cx="6508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Grid</a:t>
            </a:r>
            <a:endParaRPr lang="en-US" altLang="zh-CN" sz="12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pic>
        <p:nvPicPr>
          <p:cNvPr id="114" name="图片 113"/>
          <p:cNvPicPr/>
          <p:nvPr/>
        </p:nvPicPr>
        <p:blipFill>
          <a:blip r:embed="rId25">
            <a:alphaModFix amt="40000"/>
          </a:blip>
          <a:stretch>
            <a:fillRect/>
          </a:stretch>
        </p:blipFill>
        <p:spPr>
          <a:xfrm>
            <a:off x="5869305" y="2318385"/>
            <a:ext cx="415925" cy="37274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7" name="直接箭头连接符 36"/>
          <p:cNvCxnSpPr/>
          <p:nvPr>
            <p:custDataLst>
              <p:tags r:id="rId26"/>
            </p:custDataLst>
          </p:nvPr>
        </p:nvCxnSpPr>
        <p:spPr>
          <a:xfrm flipV="1">
            <a:off x="2576513" y="3487420"/>
            <a:ext cx="0" cy="478155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>
            <p:custDataLst>
              <p:tags r:id="rId27"/>
            </p:custDataLst>
          </p:nvPr>
        </p:nvCxnSpPr>
        <p:spPr>
          <a:xfrm flipV="1">
            <a:off x="2576513" y="2787650"/>
            <a:ext cx="0" cy="577215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102" idx="0"/>
          </p:cNvCxnSpPr>
          <p:nvPr>
            <p:custDataLst>
              <p:tags r:id="rId28"/>
            </p:custDataLst>
          </p:nvPr>
        </p:nvCxnSpPr>
        <p:spPr>
          <a:xfrm flipV="1">
            <a:off x="6005830" y="3477260"/>
            <a:ext cx="0" cy="106553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29"/>
            </p:custDataLst>
          </p:nvPr>
        </p:nvCxnSpPr>
        <p:spPr>
          <a:xfrm flipV="1">
            <a:off x="8149590" y="3496945"/>
            <a:ext cx="0" cy="99504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5" name="图片 114"/>
          <p:cNvPicPr/>
          <p:nvPr/>
        </p:nvPicPr>
        <p:blipFill>
          <a:blip r:embed="rId30">
            <a:alphaModFix amt="60000"/>
            <a:grayscl/>
          </a:blip>
          <a:srcRect l="10185" t="22667" r="11852" b="24259"/>
          <a:stretch>
            <a:fillRect/>
          </a:stretch>
        </p:blipFill>
        <p:spPr>
          <a:xfrm>
            <a:off x="4697095" y="2245360"/>
            <a:ext cx="885825" cy="45910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6" name="直接箭头连接符 45"/>
          <p:cNvCxnSpPr>
            <a:endCxn id="6" idx="2"/>
          </p:cNvCxnSpPr>
          <p:nvPr>
            <p:custDataLst>
              <p:tags r:id="rId31"/>
            </p:custDataLst>
          </p:nvPr>
        </p:nvCxnSpPr>
        <p:spPr>
          <a:xfrm>
            <a:off x="6422708" y="2867025"/>
            <a:ext cx="1555115" cy="10617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>
            <p:custDataLst>
              <p:tags r:id="rId32"/>
            </p:custDataLst>
          </p:nvPr>
        </p:nvSpPr>
        <p:spPr>
          <a:xfrm>
            <a:off x="7649210" y="4657725"/>
            <a:ext cx="5568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...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" name="图片 3" descr="smart_plug"/>
          <p:cNvPicPr>
            <a:picLocks noChangeAspect="1"/>
          </p:cNvPicPr>
          <p:nvPr/>
        </p:nvPicPr>
        <p:blipFill>
          <a:blip r:embed="rId33">
            <a:grayscl/>
          </a:blip>
          <a:stretch>
            <a:fillRect/>
          </a:stretch>
        </p:blipFill>
        <p:spPr>
          <a:xfrm>
            <a:off x="5866130" y="3713480"/>
            <a:ext cx="271780" cy="216535"/>
          </a:xfrm>
          <a:prstGeom prst="rect">
            <a:avLst/>
          </a:prstGeom>
        </p:spPr>
      </p:pic>
      <p:pic>
        <p:nvPicPr>
          <p:cNvPr id="17" name="图片 16" descr="smart_meter"/>
          <p:cNvPicPr>
            <a:picLocks noChangeAspect="1"/>
          </p:cNvPicPr>
          <p:nvPr/>
        </p:nvPicPr>
        <p:blipFill>
          <a:blip r:embed="rId34">
            <a:grayscl/>
          </a:blip>
          <a:srcRect l="20773"/>
          <a:stretch>
            <a:fillRect/>
          </a:stretch>
        </p:blipFill>
        <p:spPr>
          <a:xfrm rot="5400000">
            <a:off x="7757795" y="2611755"/>
            <a:ext cx="416560" cy="334645"/>
          </a:xfrm>
          <a:prstGeom prst="rect">
            <a:avLst/>
          </a:prstGeom>
        </p:spPr>
      </p:pic>
      <p:pic>
        <p:nvPicPr>
          <p:cNvPr id="21" name="图片 20" descr="smart_panel"/>
          <p:cNvPicPr>
            <a:picLocks noChangeAspect="1"/>
          </p:cNvPicPr>
          <p:nvPr/>
        </p:nvPicPr>
        <p:blipFill>
          <a:blip r:embed="rId35">
            <a:grayscl/>
          </a:blip>
          <a:stretch>
            <a:fillRect/>
          </a:stretch>
        </p:blipFill>
        <p:spPr>
          <a:xfrm rot="5400000">
            <a:off x="8856345" y="3012440"/>
            <a:ext cx="594995" cy="647700"/>
          </a:xfrm>
          <a:prstGeom prst="rect">
            <a:avLst/>
          </a:prstGeom>
          <a:ln w="15875" cap="rnd">
            <a:solidFill>
              <a:schemeClr val="bg1">
                <a:lumMod val="50000"/>
              </a:schemeClr>
            </a:solidFill>
          </a:ln>
        </p:spPr>
      </p:pic>
      <p:cxnSp>
        <p:nvCxnSpPr>
          <p:cNvPr id="36" name="直接连接符 35"/>
          <p:cNvCxnSpPr/>
          <p:nvPr/>
        </p:nvCxnSpPr>
        <p:spPr>
          <a:xfrm flipH="1">
            <a:off x="8504555" y="3027680"/>
            <a:ext cx="300355" cy="36957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36"/>
            </p:custDataLst>
          </p:nvPr>
        </p:nvCxnSpPr>
        <p:spPr>
          <a:xfrm flipH="1" flipV="1">
            <a:off x="8502650" y="3458845"/>
            <a:ext cx="304800" cy="18542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" name="图片 42" descr="solar_panel"/>
          <p:cNvPicPr>
            <a:picLocks noChangeAspect="1"/>
          </p:cNvPicPr>
          <p:nvPr/>
        </p:nvPicPr>
        <p:blipFill>
          <a:blip r:embed="rId37">
            <a:alphaModFix amt="60000"/>
            <a:grayscl/>
          </a:blip>
          <a:stretch>
            <a:fillRect/>
          </a:stretch>
        </p:blipFill>
        <p:spPr>
          <a:xfrm>
            <a:off x="2066290" y="1612900"/>
            <a:ext cx="246380" cy="436880"/>
          </a:xfrm>
          <a:prstGeom prst="rect">
            <a:avLst/>
          </a:prstGeom>
        </p:spPr>
      </p:pic>
      <p:pic>
        <p:nvPicPr>
          <p:cNvPr id="48" name="图片 47" descr="solar_panel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7">
            <a:alphaModFix amt="60000"/>
            <a:grayscl/>
          </a:blip>
          <a:stretch>
            <a:fillRect/>
          </a:stretch>
        </p:blipFill>
        <p:spPr>
          <a:xfrm>
            <a:off x="2355215" y="1612900"/>
            <a:ext cx="246380" cy="436880"/>
          </a:xfrm>
          <a:prstGeom prst="rect">
            <a:avLst/>
          </a:prstGeom>
        </p:spPr>
      </p:pic>
      <p:pic>
        <p:nvPicPr>
          <p:cNvPr id="50" name="图片 49" descr="solar_panel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7">
            <a:alphaModFix amt="60000"/>
            <a:grayscl/>
          </a:blip>
          <a:stretch>
            <a:fillRect/>
          </a:stretch>
        </p:blipFill>
        <p:spPr>
          <a:xfrm>
            <a:off x="2644140" y="1612900"/>
            <a:ext cx="246380" cy="436880"/>
          </a:xfrm>
          <a:prstGeom prst="rect">
            <a:avLst/>
          </a:prstGeom>
        </p:spPr>
      </p:pic>
      <p:pic>
        <p:nvPicPr>
          <p:cNvPr id="51" name="图片 50" descr="solar_panel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37">
            <a:alphaModFix amt="60000"/>
            <a:grayscl/>
          </a:blip>
          <a:stretch>
            <a:fillRect/>
          </a:stretch>
        </p:blipFill>
        <p:spPr>
          <a:xfrm>
            <a:off x="2933065" y="1612900"/>
            <a:ext cx="246380" cy="43688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578350" y="1882140"/>
            <a:ext cx="2152015" cy="327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1840"/>
              </a:lnSpc>
            </a:pPr>
            <a:r>
              <a:rPr lang="en-US" altLang="en-GB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Energy Management </a:t>
            </a:r>
            <a:r>
              <a:rPr lang="en-US" altLang="en-GB" sz="10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System</a:t>
            </a:r>
            <a:endParaRPr lang="en-US" altLang="en-GB" sz="10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pic>
        <p:nvPicPr>
          <p:cNvPr id="6" name="图片 5" descr="smart_meter"/>
          <p:cNvPicPr>
            <a:picLocks noChangeAspect="1"/>
          </p:cNvPicPr>
          <p:nvPr/>
        </p:nvPicPr>
        <p:blipFill>
          <a:blip r:embed="rId34"/>
          <a:srcRect l="20773"/>
          <a:stretch>
            <a:fillRect/>
          </a:stretch>
        </p:blipFill>
        <p:spPr>
          <a:xfrm rot="5400000">
            <a:off x="8016875" y="3761105"/>
            <a:ext cx="257175" cy="334645"/>
          </a:xfrm>
          <a:prstGeom prst="rect">
            <a:avLst/>
          </a:prstGeom>
        </p:spPr>
      </p:pic>
      <p:sp>
        <p:nvSpPr>
          <p:cNvPr id="7" name="圆角矩形 6"/>
          <p:cNvSpPr/>
          <p:nvPr>
            <p:custDataLst>
              <p:tags r:id="rId41"/>
            </p:custDataLst>
          </p:nvPr>
        </p:nvSpPr>
        <p:spPr>
          <a:xfrm>
            <a:off x="3616960" y="4009390"/>
            <a:ext cx="1549400" cy="1176020"/>
          </a:xfrm>
          <a:prstGeom prst="roundRect">
            <a:avLst>
              <a:gd name="adj" fmla="val 4405"/>
            </a:avLst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" name="圆角矩形 7"/>
          <p:cNvSpPr/>
          <p:nvPr>
            <p:custDataLst>
              <p:tags r:id="rId42"/>
            </p:custDataLst>
          </p:nvPr>
        </p:nvSpPr>
        <p:spPr>
          <a:xfrm>
            <a:off x="3966845" y="4431665"/>
            <a:ext cx="802640" cy="648970"/>
          </a:xfrm>
          <a:prstGeom prst="roundRect">
            <a:avLst>
              <a:gd name="adj" fmla="val 6803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1040"/>
              </a:lnSpc>
            </a:pPr>
            <a:r>
              <a:rPr lang="en-US" altLang="zh-CN" sz="10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BMS</a:t>
            </a:r>
            <a:endParaRPr lang="en-US" altLang="zh-CN" sz="10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9" name="图片 8"/>
          <p:cNvPicPr/>
          <p:nvPr>
            <p:custDataLst>
              <p:tags r:id="rId43"/>
            </p:custDataLst>
          </p:nvPr>
        </p:nvPicPr>
        <p:blipFill>
          <a:blip r:embed="rId9">
            <a:grayscl/>
          </a:blip>
          <a:srcRect l="24160" t="26450" r="14460" b="30350"/>
          <a:stretch>
            <a:fillRect/>
          </a:stretch>
        </p:blipFill>
        <p:spPr>
          <a:xfrm>
            <a:off x="4100195" y="4604385"/>
            <a:ext cx="535940" cy="43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圆角矩形 9"/>
          <p:cNvSpPr/>
          <p:nvPr>
            <p:custDataLst>
              <p:tags r:id="rId44"/>
            </p:custDataLst>
          </p:nvPr>
        </p:nvSpPr>
        <p:spPr>
          <a:xfrm>
            <a:off x="3695065" y="4134485"/>
            <a:ext cx="650240" cy="2012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>
              <a:lnSpc>
                <a:spcPts val="1740"/>
              </a:lnSpc>
              <a:buClrTx/>
              <a:buSzTx/>
              <a:buFontTx/>
            </a:pPr>
            <a:r>
              <a:rPr lang="en-US" altLang="zh-CN" sz="1200" b="1" baseline="30000">
                <a:solidFill>
                  <a:schemeClr val="tx1"/>
                </a:solidFill>
                <a:uFillTx/>
                <a:latin typeface="Courier New" panose="02070309020205020404" charset="0"/>
                <a:cs typeface="Courier New" panose="02070309020205020404" charset="0"/>
              </a:rPr>
              <a:t>Charger</a:t>
            </a:r>
            <a:endParaRPr lang="en-US" altLang="zh-CN" sz="1200" b="1" baseline="30000">
              <a:solidFill>
                <a:schemeClr val="tx1"/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45"/>
            </p:custDataLst>
          </p:nvPr>
        </p:nvSpPr>
        <p:spPr>
          <a:xfrm>
            <a:off x="3776345" y="5353685"/>
            <a:ext cx="1390015" cy="497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1400" b="1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Secondary</a:t>
            </a:r>
            <a:endParaRPr lang="en-US" altLang="zh-CN" sz="1400" b="1">
              <a:solidFill>
                <a:srgbClr val="7030A0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400" b="1">
                <a:solidFill>
                  <a:srgbClr val="7030A0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Storage</a:t>
            </a:r>
            <a:endParaRPr lang="en-US" altLang="zh-CN" sz="1400" b="1">
              <a:solidFill>
                <a:srgbClr val="7030A0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46"/>
            </p:custDataLst>
          </p:nvPr>
        </p:nvCxnSpPr>
        <p:spPr>
          <a:xfrm flipV="1">
            <a:off x="4033838" y="3451860"/>
            <a:ext cx="0" cy="563245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47"/>
            </p:custDataLst>
          </p:nvPr>
        </p:nvCxnSpPr>
        <p:spPr>
          <a:xfrm flipV="1">
            <a:off x="4771708" y="3455670"/>
            <a:ext cx="0" cy="554355"/>
          </a:xfrm>
          <a:prstGeom prst="straightConnector1">
            <a:avLst/>
          </a:prstGeom>
          <a:ln w="31750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 descr="smart_plug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3900805" y="3626168"/>
            <a:ext cx="271780" cy="216535"/>
          </a:xfrm>
          <a:prstGeom prst="rect">
            <a:avLst/>
          </a:prstGeom>
        </p:spPr>
      </p:pic>
      <p:pic>
        <p:nvPicPr>
          <p:cNvPr id="18" name="图片 17" descr="smart_plug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636135" y="3626168"/>
            <a:ext cx="271780" cy="216535"/>
          </a:xfrm>
          <a:prstGeom prst="rect">
            <a:avLst/>
          </a:prstGeom>
        </p:spPr>
      </p:pic>
      <p:sp>
        <p:nvSpPr>
          <p:cNvPr id="20" name="圆角矩形 19"/>
          <p:cNvSpPr/>
          <p:nvPr>
            <p:custDataLst>
              <p:tags r:id="rId50"/>
            </p:custDataLst>
          </p:nvPr>
        </p:nvSpPr>
        <p:spPr>
          <a:xfrm>
            <a:off x="4394835" y="4134485"/>
            <a:ext cx="720725" cy="2012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1740"/>
              </a:lnSpc>
            </a:pPr>
            <a:r>
              <a:rPr lang="en-US" altLang="zh-CN" sz="1200" b="1" baseline="30000">
                <a:solidFill>
                  <a:schemeClr val="tx1"/>
                </a:solidFill>
                <a:uFillTx/>
                <a:latin typeface="Courier New" panose="02070309020205020404" charset="0"/>
                <a:cs typeface="Courier New" panose="02070309020205020404" charset="0"/>
              </a:rPr>
              <a:t>Inverter</a:t>
            </a:r>
            <a:endParaRPr lang="en-US" altLang="zh-CN" sz="1200" b="1" baseline="30000">
              <a:solidFill>
                <a:schemeClr val="tx1"/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cxnSp>
        <p:nvCxnSpPr>
          <p:cNvPr id="33" name="直接箭头连接符 32"/>
          <p:cNvCxnSpPr/>
          <p:nvPr>
            <p:custDataLst>
              <p:tags r:id="rId51"/>
            </p:custDataLst>
          </p:nvPr>
        </p:nvCxnSpPr>
        <p:spPr>
          <a:xfrm flipV="1">
            <a:off x="7095808" y="3557270"/>
            <a:ext cx="0" cy="93472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52"/>
            </p:custDataLst>
          </p:nvPr>
        </p:nvCxnSpPr>
        <p:spPr>
          <a:xfrm flipV="1">
            <a:off x="4172268" y="2857500"/>
            <a:ext cx="545465" cy="866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>
            <p:custDataLst>
              <p:tags r:id="rId53"/>
            </p:custDataLst>
          </p:nvPr>
        </p:nvCxnSpPr>
        <p:spPr>
          <a:xfrm flipV="1">
            <a:off x="4906963" y="2838450"/>
            <a:ext cx="545465" cy="866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smart_plug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33">
            <a:grayscl/>
          </a:blip>
          <a:stretch>
            <a:fillRect/>
          </a:stretch>
        </p:blipFill>
        <p:spPr>
          <a:xfrm>
            <a:off x="6959918" y="3713480"/>
            <a:ext cx="271780" cy="216535"/>
          </a:xfrm>
          <a:prstGeom prst="rect">
            <a:avLst/>
          </a:prstGeom>
        </p:spPr>
      </p:pic>
    </p:spTree>
    <p:custDataLst>
      <p:tags r:id="rId5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commondata" val="eyJoZGlkIjoiYWQyNmZkYTYzNmY3ZjQxMzhiMDQxMmU4MWM4MmJhMD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宽屏</PresentationFormat>
  <Paragraphs>53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Courier New</vt:lpstr>
      <vt:lpstr>Bahnschrift SemiBold</vt:lpstr>
      <vt:lpstr>Microsoft YaHei UI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WPS_1685937545</cp:lastModifiedBy>
  <cp:revision>351</cp:revision>
  <dcterms:created xsi:type="dcterms:W3CDTF">2019-06-19T02:08:00Z</dcterms:created>
  <dcterms:modified xsi:type="dcterms:W3CDTF">2025-06-21T05:33:58Z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D7BA876770A34E98855E256F14397A1E_11</vt:lpwstr>
  </property>
</Properties>
</file>