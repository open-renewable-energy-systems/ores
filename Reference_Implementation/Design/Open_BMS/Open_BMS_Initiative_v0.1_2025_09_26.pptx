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0" r:id="rId3"/>
    <p:sldId id="332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3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2362"/>
    <a:srgbClr val="172F72"/>
    <a:srgbClr val="192969"/>
    <a:srgbClr val="FFFAE9"/>
    <a:srgbClr val="1A2566"/>
    <a:srgbClr val="333EAF"/>
    <a:srgbClr val="1C2261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53"/>
        <p:guide pos="387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85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Open BMS Initiative, DEGCent</a:t>
            </a:r>
            <a:r>
              <a:rPr lang="zh-CN" altLang="en-US"/>
              <a:t>，</a:t>
            </a:r>
            <a:r>
              <a:rPr lang="en-US" altLang="zh-CN"/>
              <a:t> 9/26/2025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Open BMS Initiative, DEGCent, 9/26/2025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2.png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image" Target="../media/image1.jpeg"/><Relationship Id="rId48" Type="http://schemas.openxmlformats.org/officeDocument/2006/relationships/notesSlide" Target="../notesSlides/notesSlide1.xml"/><Relationship Id="rId47" Type="http://schemas.openxmlformats.org/officeDocument/2006/relationships/slideLayout" Target="../slideLayouts/slideLayout1.xml"/><Relationship Id="rId46" Type="http://schemas.openxmlformats.org/officeDocument/2006/relationships/tags" Target="../tags/tag83.xml"/><Relationship Id="rId45" Type="http://schemas.openxmlformats.org/officeDocument/2006/relationships/image" Target="../media/image25.png"/><Relationship Id="rId44" Type="http://schemas.openxmlformats.org/officeDocument/2006/relationships/image" Target="../media/image24.png"/><Relationship Id="rId43" Type="http://schemas.openxmlformats.org/officeDocument/2006/relationships/image" Target="../media/image23.png"/><Relationship Id="rId42" Type="http://schemas.openxmlformats.org/officeDocument/2006/relationships/tags" Target="../tags/tag82.xml"/><Relationship Id="rId41" Type="http://schemas.openxmlformats.org/officeDocument/2006/relationships/image" Target="../media/image22.png"/><Relationship Id="rId40" Type="http://schemas.openxmlformats.org/officeDocument/2006/relationships/tags" Target="../tags/tag81.xml"/><Relationship Id="rId4" Type="http://schemas.openxmlformats.org/officeDocument/2006/relationships/tags" Target="../tags/tag66.xml"/><Relationship Id="rId39" Type="http://schemas.openxmlformats.org/officeDocument/2006/relationships/tags" Target="../tags/tag80.xml"/><Relationship Id="rId38" Type="http://schemas.openxmlformats.org/officeDocument/2006/relationships/tags" Target="../tags/tag79.xml"/><Relationship Id="rId37" Type="http://schemas.openxmlformats.org/officeDocument/2006/relationships/tags" Target="../tags/tag78.xml"/><Relationship Id="rId36" Type="http://schemas.openxmlformats.org/officeDocument/2006/relationships/image" Target="../media/image21.png"/><Relationship Id="rId35" Type="http://schemas.openxmlformats.org/officeDocument/2006/relationships/image" Target="../media/image20.png"/><Relationship Id="rId34" Type="http://schemas.openxmlformats.org/officeDocument/2006/relationships/image" Target="../media/image19.png"/><Relationship Id="rId33" Type="http://schemas.openxmlformats.org/officeDocument/2006/relationships/image" Target="../media/image18.jpeg"/><Relationship Id="rId32" Type="http://schemas.openxmlformats.org/officeDocument/2006/relationships/image" Target="../media/image17.png"/><Relationship Id="rId31" Type="http://schemas.openxmlformats.org/officeDocument/2006/relationships/image" Target="../media/image16.png"/><Relationship Id="rId30" Type="http://schemas.openxmlformats.org/officeDocument/2006/relationships/image" Target="../media/image15.png"/><Relationship Id="rId3" Type="http://schemas.openxmlformats.org/officeDocument/2006/relationships/tags" Target="../tags/tag65.xml"/><Relationship Id="rId29" Type="http://schemas.openxmlformats.org/officeDocument/2006/relationships/image" Target="../media/image14.png"/><Relationship Id="rId28" Type="http://schemas.openxmlformats.org/officeDocument/2006/relationships/image" Target="../media/image13.jpeg"/><Relationship Id="rId27" Type="http://schemas.openxmlformats.org/officeDocument/2006/relationships/image" Target="../media/image12.jpeg"/><Relationship Id="rId26" Type="http://schemas.openxmlformats.org/officeDocument/2006/relationships/image" Target="../media/image11.png"/><Relationship Id="rId25" Type="http://schemas.openxmlformats.org/officeDocument/2006/relationships/tags" Target="../tags/tag77.xml"/><Relationship Id="rId24" Type="http://schemas.openxmlformats.org/officeDocument/2006/relationships/tags" Target="../tags/tag76.xml"/><Relationship Id="rId23" Type="http://schemas.openxmlformats.org/officeDocument/2006/relationships/tags" Target="../tags/tag75.xml"/><Relationship Id="rId22" Type="http://schemas.openxmlformats.org/officeDocument/2006/relationships/image" Target="../media/image10.png"/><Relationship Id="rId21" Type="http://schemas.openxmlformats.org/officeDocument/2006/relationships/tags" Target="../tags/tag74.xml"/><Relationship Id="rId20" Type="http://schemas.openxmlformats.org/officeDocument/2006/relationships/image" Target="../media/image9.png"/><Relationship Id="rId2" Type="http://schemas.openxmlformats.org/officeDocument/2006/relationships/tags" Target="../tags/tag64.xml"/><Relationship Id="rId19" Type="http://schemas.openxmlformats.org/officeDocument/2006/relationships/image" Target="../media/image8.png"/><Relationship Id="rId18" Type="http://schemas.openxmlformats.org/officeDocument/2006/relationships/image" Target="../media/image7.png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image" Target="../media/image6.png"/><Relationship Id="rId13" Type="http://schemas.openxmlformats.org/officeDocument/2006/relationships/image" Target="../media/image5.png"/><Relationship Id="rId12" Type="http://schemas.openxmlformats.org/officeDocument/2006/relationships/tags" Target="../tags/tag70.xml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84.xml"/><Relationship Id="rId1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圆角矩形 63"/>
          <p:cNvSpPr/>
          <p:nvPr>
            <p:custDataLst>
              <p:tags r:id="rId1"/>
            </p:custDataLst>
          </p:nvPr>
        </p:nvSpPr>
        <p:spPr>
          <a:xfrm>
            <a:off x="3234055" y="4363085"/>
            <a:ext cx="2117090" cy="1359535"/>
          </a:xfrm>
          <a:prstGeom prst="roundRect">
            <a:avLst>
              <a:gd name="adj" fmla="val 3323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7" name="圆角矩形 66"/>
          <p:cNvSpPr/>
          <p:nvPr>
            <p:custDataLst>
              <p:tags r:id="rId2"/>
            </p:custDataLst>
          </p:nvPr>
        </p:nvSpPr>
        <p:spPr>
          <a:xfrm>
            <a:off x="4500245" y="1390015"/>
            <a:ext cx="1350645" cy="692785"/>
          </a:xfrm>
          <a:prstGeom prst="roundRect">
            <a:avLst>
              <a:gd name="adj" fmla="val 3323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7" name="圆角矩形 46"/>
          <p:cNvSpPr/>
          <p:nvPr>
            <p:custDataLst>
              <p:tags r:id="rId3"/>
            </p:custDataLst>
          </p:nvPr>
        </p:nvSpPr>
        <p:spPr>
          <a:xfrm>
            <a:off x="2523490" y="1571625"/>
            <a:ext cx="1033145" cy="4597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bg1">
                    <a:lumMod val="65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Solar</a:t>
            </a:r>
            <a:endParaRPr lang="en-US" altLang="zh-CN" sz="1200">
              <a:solidFill>
                <a:schemeClr val="bg1">
                  <a:lumMod val="65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ctr"/>
            <a:r>
              <a:rPr lang="en-US" altLang="zh-CN" sz="1200">
                <a:solidFill>
                  <a:schemeClr val="bg1">
                    <a:lumMod val="65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Inverter</a:t>
            </a:r>
            <a:endParaRPr lang="en-US" altLang="zh-CN" sz="1200" baseline="30000">
              <a:solidFill>
                <a:schemeClr val="bg1">
                  <a:lumMod val="65000"/>
                </a:schemeClr>
              </a:solidFill>
              <a:uFillTx/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49" name="图片 48"/>
          <p:cNvPicPr/>
          <p:nvPr>
            <p:custDataLst>
              <p:tags r:id="rId4"/>
            </p:custDataLst>
          </p:nvPr>
        </p:nvPicPr>
        <p:blipFill>
          <a:blip r:embed="rId5">
            <a:alphaModFix amt="20000"/>
            <a:grayscl/>
            <a:lum bright="-6000" contrast="-6000"/>
          </a:blip>
          <a:stretch>
            <a:fillRect/>
          </a:stretch>
        </p:blipFill>
        <p:spPr>
          <a:xfrm>
            <a:off x="8390255" y="782320"/>
            <a:ext cx="805815" cy="76708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6" name="直接箭头连接符 55"/>
          <p:cNvCxnSpPr/>
          <p:nvPr>
            <p:custDataLst>
              <p:tags r:id="rId6"/>
            </p:custDataLst>
          </p:nvPr>
        </p:nvCxnSpPr>
        <p:spPr>
          <a:xfrm flipV="1">
            <a:off x="8778875" y="1549400"/>
            <a:ext cx="0" cy="1155700"/>
          </a:xfrm>
          <a:prstGeom prst="straightConnector1">
            <a:avLst/>
          </a:prstGeom>
          <a:ln w="31750">
            <a:solidFill>
              <a:schemeClr val="bg1">
                <a:lumMod val="65000"/>
              </a:schemeClr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8" name="图片 27" descr="充电强图片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grayscl/>
          </a:blip>
          <a:stretch>
            <a:fillRect/>
          </a:stretch>
        </p:blipFill>
        <p:spPr>
          <a:xfrm>
            <a:off x="8471535" y="4292600"/>
            <a:ext cx="419735" cy="487045"/>
          </a:xfrm>
          <a:prstGeom prst="rect">
            <a:avLst/>
          </a:prstGeom>
        </p:spPr>
      </p:pic>
      <p:cxnSp>
        <p:nvCxnSpPr>
          <p:cNvPr id="27" name="直接连接符 26"/>
          <p:cNvCxnSpPr/>
          <p:nvPr>
            <p:custDataLst>
              <p:tags r:id="rId9"/>
            </p:custDataLst>
          </p:nvPr>
        </p:nvCxnSpPr>
        <p:spPr>
          <a:xfrm flipV="1">
            <a:off x="2843530" y="2769235"/>
            <a:ext cx="6474460" cy="0"/>
          </a:xfrm>
          <a:prstGeom prst="line">
            <a:avLst/>
          </a:prstGeom>
          <a:ln w="539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1" name="图片 100"/>
          <p:cNvPicPr/>
          <p:nvPr/>
        </p:nvPicPr>
        <p:blipFill>
          <a:blip r:embed="rId10">
            <a:alphaModFix amt="40000"/>
            <a:grayscl/>
          </a:blip>
          <a:srcRect l="28704" t="14478" r="28056" b="23605"/>
          <a:stretch>
            <a:fillRect/>
          </a:stretch>
        </p:blipFill>
        <p:spPr>
          <a:xfrm>
            <a:off x="8390255" y="3275965"/>
            <a:ext cx="501015" cy="8235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图片 110"/>
          <p:cNvPicPr/>
          <p:nvPr/>
        </p:nvPicPr>
        <p:blipFill>
          <a:blip r:embed="rId11"/>
          <a:srcRect l="15745" t="39496" r="72922" b="39202"/>
          <a:stretch>
            <a:fillRect/>
          </a:stretch>
        </p:blipFill>
        <p:spPr>
          <a:xfrm>
            <a:off x="4605020" y="1423670"/>
            <a:ext cx="277495" cy="29654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8" name="直接箭头连接符 37"/>
          <p:cNvCxnSpPr/>
          <p:nvPr>
            <p:custDataLst>
              <p:tags r:id="rId12"/>
            </p:custDataLst>
          </p:nvPr>
        </p:nvCxnSpPr>
        <p:spPr>
          <a:xfrm flipV="1">
            <a:off x="3010218" y="2127885"/>
            <a:ext cx="0" cy="577215"/>
          </a:xfrm>
          <a:prstGeom prst="straightConnector1">
            <a:avLst/>
          </a:prstGeom>
          <a:ln w="31750">
            <a:solidFill>
              <a:schemeClr val="bg1">
                <a:lumMod val="6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5116830" y="1742440"/>
            <a:ext cx="495020" cy="275336"/>
            <a:chOff x="7397" y="3536"/>
            <a:chExt cx="1395" cy="723"/>
          </a:xfrm>
        </p:grpSpPr>
        <p:pic>
          <p:nvPicPr>
            <p:cNvPr id="115" name="图片 114"/>
            <p:cNvPicPr/>
            <p:nvPr/>
          </p:nvPicPr>
          <p:blipFill>
            <a:blip r:embed="rId13">
              <a:alphaModFix amt="60000"/>
              <a:grayscl/>
            </a:blip>
            <a:srcRect l="10185" t="22667" r="11852" b="24259"/>
            <a:stretch>
              <a:fillRect/>
            </a:stretch>
          </p:blipFill>
          <p:spPr>
            <a:xfrm>
              <a:off x="7397" y="3536"/>
              <a:ext cx="1395" cy="72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6" name="图片 115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7708" y="3604"/>
              <a:ext cx="773" cy="533"/>
            </a:xfrm>
            <a:prstGeom prst="rect">
              <a:avLst/>
            </a:prstGeom>
            <a:noFill/>
            <a:ln w="9525">
              <a:noFill/>
            </a:ln>
          </p:spPr>
        </p:pic>
      </p:grpSp>
      <p:cxnSp>
        <p:nvCxnSpPr>
          <p:cNvPr id="46" name="直接箭头连接符 45"/>
          <p:cNvCxnSpPr>
            <a:stCxn id="64" idx="0"/>
          </p:cNvCxnSpPr>
          <p:nvPr>
            <p:custDataLst>
              <p:tags r:id="rId15"/>
            </p:custDataLst>
          </p:nvPr>
        </p:nvCxnSpPr>
        <p:spPr>
          <a:xfrm flipH="1" flipV="1">
            <a:off x="4292283" y="2848610"/>
            <a:ext cx="0" cy="1514475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>
            <p:custDataLst>
              <p:tags r:id="rId16"/>
            </p:custDataLst>
          </p:nvPr>
        </p:nvSpPr>
        <p:spPr>
          <a:xfrm>
            <a:off x="4836160" y="1473200"/>
            <a:ext cx="106426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charset="0"/>
                <a:ea typeface="Microsoft YaHei UI" panose="020B0503020204020204" charset="-122"/>
                <a:cs typeface="Bahnschrift SemiBold" panose="020B0502040204020203" charset="0"/>
                <a:sym typeface="+mn-ea"/>
              </a:rPr>
              <a:t>Home Assistant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charset="0"/>
              <a:ea typeface="Microsoft YaHei UI" panose="020B0503020204020204" charset="-122"/>
              <a:cs typeface="Bahnschrift SemiBold" panose="020B0502040204020203" charset="0"/>
              <a:sym typeface="+mn-ea"/>
            </a:endParaRPr>
          </a:p>
        </p:txBody>
      </p:sp>
      <p:pic>
        <p:nvPicPr>
          <p:cNvPr id="5" name="图片 4" descr="smart_plu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grayscl/>
          </a:blip>
          <a:stretch>
            <a:fillRect/>
          </a:stretch>
        </p:blipFill>
        <p:spPr>
          <a:xfrm>
            <a:off x="4159885" y="3267075"/>
            <a:ext cx="271780" cy="21653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17" name="图片 16" descr="smart_meter"/>
          <p:cNvPicPr>
            <a:picLocks noChangeAspect="1"/>
          </p:cNvPicPr>
          <p:nvPr/>
        </p:nvPicPr>
        <p:blipFill>
          <a:blip r:embed="rId19">
            <a:alphaModFix amt="70000"/>
            <a:grayscl/>
          </a:blip>
          <a:srcRect l="20773"/>
          <a:stretch>
            <a:fillRect/>
          </a:stretch>
        </p:blipFill>
        <p:spPr>
          <a:xfrm rot="5400000">
            <a:off x="8571230" y="1951990"/>
            <a:ext cx="416560" cy="334645"/>
          </a:xfrm>
          <a:prstGeom prst="rect">
            <a:avLst/>
          </a:prstGeom>
        </p:spPr>
      </p:pic>
      <p:pic>
        <p:nvPicPr>
          <p:cNvPr id="21" name="图片 20" descr="smart_panel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 rot="5400000">
            <a:off x="9669780" y="2352675"/>
            <a:ext cx="594995" cy="647700"/>
          </a:xfrm>
          <a:prstGeom prst="rect">
            <a:avLst/>
          </a:prstGeom>
          <a:ln w="15875" cap="rnd">
            <a:noFill/>
          </a:ln>
        </p:spPr>
      </p:pic>
      <p:cxnSp>
        <p:nvCxnSpPr>
          <p:cNvPr id="36" name="直接连接符 35"/>
          <p:cNvCxnSpPr/>
          <p:nvPr/>
        </p:nvCxnSpPr>
        <p:spPr>
          <a:xfrm flipH="1">
            <a:off x="9317990" y="2367915"/>
            <a:ext cx="300355" cy="36957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1"/>
            </p:custDataLst>
          </p:nvPr>
        </p:nvCxnSpPr>
        <p:spPr>
          <a:xfrm flipH="1" flipV="1">
            <a:off x="9316085" y="2799080"/>
            <a:ext cx="304800" cy="18542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3" name="图片 42" descr="solar_panel"/>
          <p:cNvPicPr>
            <a:picLocks noChangeAspect="1"/>
          </p:cNvPicPr>
          <p:nvPr/>
        </p:nvPicPr>
        <p:blipFill>
          <a:blip r:embed="rId22">
            <a:alphaModFix amt="40000"/>
            <a:grayscl/>
          </a:blip>
          <a:stretch>
            <a:fillRect/>
          </a:stretch>
        </p:blipFill>
        <p:spPr>
          <a:xfrm>
            <a:off x="2499995" y="953135"/>
            <a:ext cx="246380" cy="436880"/>
          </a:xfrm>
          <a:prstGeom prst="rect">
            <a:avLst/>
          </a:prstGeom>
        </p:spPr>
      </p:pic>
      <p:pic>
        <p:nvPicPr>
          <p:cNvPr id="48" name="图片 47" descr="solar_panel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2">
            <a:alphaModFix amt="40000"/>
            <a:grayscl/>
          </a:blip>
          <a:stretch>
            <a:fillRect/>
          </a:stretch>
        </p:blipFill>
        <p:spPr>
          <a:xfrm>
            <a:off x="2788920" y="953135"/>
            <a:ext cx="246380" cy="436880"/>
          </a:xfrm>
          <a:prstGeom prst="rect">
            <a:avLst/>
          </a:prstGeom>
        </p:spPr>
      </p:pic>
      <p:pic>
        <p:nvPicPr>
          <p:cNvPr id="50" name="图片 49" descr="solar_panel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2">
            <a:alphaModFix amt="40000"/>
            <a:grayscl/>
          </a:blip>
          <a:stretch>
            <a:fillRect/>
          </a:stretch>
        </p:blipFill>
        <p:spPr>
          <a:xfrm>
            <a:off x="3077845" y="953135"/>
            <a:ext cx="246380" cy="436880"/>
          </a:xfrm>
          <a:prstGeom prst="rect">
            <a:avLst/>
          </a:prstGeom>
        </p:spPr>
      </p:pic>
      <p:pic>
        <p:nvPicPr>
          <p:cNvPr id="51" name="图片 50" descr="solar_panel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2">
            <a:alphaModFix amt="40000"/>
            <a:grayscl/>
          </a:blip>
          <a:stretch>
            <a:fillRect/>
          </a:stretch>
        </p:blipFill>
        <p:spPr>
          <a:xfrm>
            <a:off x="3366770" y="953135"/>
            <a:ext cx="246380" cy="436880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500245" y="1053465"/>
            <a:ext cx="1440815" cy="290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ts val="1840"/>
              </a:lnSpc>
            </a:pPr>
            <a:r>
              <a:rPr lang="en-US" altLang="en-GB" sz="8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Software Defined EMS</a:t>
            </a:r>
            <a:endParaRPr lang="en-US" altLang="en-GB" sz="8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17720" y="1762125"/>
            <a:ext cx="264795" cy="25590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7"/>
          <a:stretch>
            <a:fillRect/>
          </a:stretch>
        </p:blipFill>
        <p:spPr>
          <a:xfrm rot="16200000">
            <a:off x="3470275" y="5064125"/>
            <a:ext cx="408940" cy="41529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27"/>
          <a:stretch>
            <a:fillRect/>
          </a:stretch>
        </p:blipFill>
        <p:spPr>
          <a:xfrm rot="16200000">
            <a:off x="3903345" y="5064125"/>
            <a:ext cx="408940" cy="41529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27"/>
          <a:stretch>
            <a:fillRect/>
          </a:stretch>
        </p:blipFill>
        <p:spPr>
          <a:xfrm rot="16200000">
            <a:off x="4769485" y="5064125"/>
            <a:ext cx="408940" cy="41529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27"/>
          <a:stretch>
            <a:fillRect/>
          </a:stretch>
        </p:blipFill>
        <p:spPr>
          <a:xfrm rot="16200000">
            <a:off x="4336415" y="5064125"/>
            <a:ext cx="408940" cy="41529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28"/>
          <a:srcRect l="5761" t="34235" r="37149" b="12246"/>
          <a:stretch>
            <a:fillRect/>
          </a:stretch>
        </p:blipFill>
        <p:spPr>
          <a:xfrm>
            <a:off x="3828415" y="4491355"/>
            <a:ext cx="776605" cy="34226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395345" y="4570730"/>
            <a:ext cx="48514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>
                <a:latin typeface="Courier New" panose="02070309020205020404" charset="0"/>
                <a:cs typeface="Courier New" panose="02070309020205020404" charset="0"/>
                <a:sym typeface="+mn-ea"/>
              </a:rPr>
              <a:t>BMS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18840" y="5476240"/>
            <a:ext cx="187896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LiFePO4 Cell 3.2V 32Ah, 16S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9"/>
          <a:srcRect l="14989" t="15917" r="3105" b="12848"/>
          <a:stretch>
            <a:fillRect/>
          </a:stretch>
        </p:blipFill>
        <p:spPr>
          <a:xfrm>
            <a:off x="6330315" y="4874895"/>
            <a:ext cx="721360" cy="470535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6192520" y="5476240"/>
            <a:ext cx="17094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200" b="1">
                <a:latin typeface="Courier New" panose="02070309020205020404" charset="0"/>
                <a:cs typeface="Courier New" panose="02070309020205020404" charset="0"/>
              </a:rPr>
              <a:t>Inverter</a:t>
            </a:r>
            <a:r>
              <a:rPr lang="en-US" altLang="zh-CN" sz="1000" b="1">
                <a:latin typeface="Courier New" panose="02070309020205020404" charset="0"/>
                <a:cs typeface="Courier New" panose="02070309020205020404" charset="0"/>
              </a:rPr>
              <a:t> </a:t>
            </a:r>
            <a:endParaRPr lang="en-US" altLang="zh-CN" sz="1000" b="1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  <a:sym typeface="+mn-ea"/>
              </a:rPr>
              <a:t>Off-Grid, </a:t>
            </a: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In/DC 48V, Out/AC 110V, 3.3kW, 60Hz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0"/>
          <a:srcRect l="46260" t="8853" r="19959" b="73374"/>
          <a:stretch>
            <a:fillRect/>
          </a:stretch>
        </p:blipFill>
        <p:spPr>
          <a:xfrm>
            <a:off x="3636645" y="3691255"/>
            <a:ext cx="1373505" cy="331470"/>
          </a:xfrm>
          <a:prstGeom prst="rect">
            <a:avLst/>
          </a:prstGeom>
          <a:ln w="9525">
            <a:solidFill>
              <a:schemeClr val="accent2">
                <a:lumMod val="75000"/>
              </a:schemeClr>
            </a:solidFill>
          </a:ln>
        </p:spPr>
      </p:pic>
      <p:sp>
        <p:nvSpPr>
          <p:cNvPr id="19" name="文本框 18"/>
          <p:cNvSpPr txBox="1"/>
          <p:nvPr/>
        </p:nvSpPr>
        <p:spPr>
          <a:xfrm>
            <a:off x="8471535" y="5756910"/>
            <a:ext cx="22212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Open Source Lab</a:t>
            </a:r>
            <a:endParaRPr lang="en-US" altLang="zh-CN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6052820" y="1445260"/>
            <a:ext cx="314325" cy="52197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924550" y="1922145"/>
            <a:ext cx="581025" cy="506095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33"/>
          <a:stretch>
            <a:fillRect/>
          </a:stretch>
        </p:blipFill>
        <p:spPr>
          <a:xfrm>
            <a:off x="6026785" y="991870"/>
            <a:ext cx="366395" cy="557530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6457950" y="1549400"/>
            <a:ext cx="17145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Smoke detector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Carbon Monoxide detector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457950" y="2093595"/>
            <a:ext cx="120078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Cooling fan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380490" y="4102735"/>
            <a:ext cx="704850" cy="467995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35">
            <a:alphaModFix amt="55000"/>
            <a:grayscl/>
          </a:blip>
          <a:stretch>
            <a:fillRect/>
          </a:stretch>
        </p:blipFill>
        <p:spPr>
          <a:xfrm>
            <a:off x="1451610" y="5154295"/>
            <a:ext cx="406400" cy="60198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457950" y="3610610"/>
            <a:ext cx="528320" cy="808990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3395345" y="4815840"/>
            <a:ext cx="190246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Lebre Solar / enAccess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cxnSp>
        <p:nvCxnSpPr>
          <p:cNvPr id="66" name="直接箭头连接符 65"/>
          <p:cNvCxnSpPr/>
          <p:nvPr>
            <p:custDataLst>
              <p:tags r:id="rId37"/>
            </p:custDataLst>
          </p:nvPr>
        </p:nvCxnSpPr>
        <p:spPr>
          <a:xfrm flipH="1" flipV="1">
            <a:off x="7118033" y="3771265"/>
            <a:ext cx="779145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 descr="smart_plug"/>
          <p:cNvPicPr>
            <a:picLocks noChangeAspect="1"/>
          </p:cNvPicPr>
          <p:nvPr/>
        </p:nvPicPr>
        <p:blipFill>
          <a:blip r:embed="rId18">
            <a:grayscl/>
          </a:blip>
          <a:stretch>
            <a:fillRect/>
          </a:stretch>
        </p:blipFill>
        <p:spPr>
          <a:xfrm>
            <a:off x="7287895" y="3675380"/>
            <a:ext cx="271780" cy="21653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cxnSp>
        <p:nvCxnSpPr>
          <p:cNvPr id="71" name="直接箭头连接符 70"/>
          <p:cNvCxnSpPr/>
          <p:nvPr>
            <p:custDataLst>
              <p:tags r:id="rId38"/>
            </p:custDataLst>
          </p:nvPr>
        </p:nvCxnSpPr>
        <p:spPr>
          <a:xfrm flipH="1" flipV="1">
            <a:off x="7114223" y="4324350"/>
            <a:ext cx="779145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2" name="图片 71" descr="smart_plug"/>
          <p:cNvPicPr>
            <a:picLocks noChangeAspect="1"/>
          </p:cNvPicPr>
          <p:nvPr/>
        </p:nvPicPr>
        <p:blipFill>
          <a:blip r:embed="rId18">
            <a:grayscl/>
          </a:blip>
          <a:stretch>
            <a:fillRect/>
          </a:stretch>
        </p:blipFill>
        <p:spPr>
          <a:xfrm>
            <a:off x="7284085" y="4228465"/>
            <a:ext cx="271780" cy="21653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cxnSp>
        <p:nvCxnSpPr>
          <p:cNvPr id="73" name="直接箭头连接符 72"/>
          <p:cNvCxnSpPr/>
          <p:nvPr>
            <p:custDataLst>
              <p:tags r:id="rId39"/>
            </p:custDataLst>
          </p:nvPr>
        </p:nvCxnSpPr>
        <p:spPr>
          <a:xfrm flipH="1">
            <a:off x="5493068" y="5148580"/>
            <a:ext cx="728980" cy="635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>
            <p:custDataLst>
              <p:tags r:id="rId40"/>
            </p:custDataLst>
          </p:nvPr>
        </p:nvCxnSpPr>
        <p:spPr>
          <a:xfrm>
            <a:off x="6720523" y="4464685"/>
            <a:ext cx="1270" cy="314960"/>
          </a:xfrm>
          <a:prstGeom prst="straightConnector1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5046980" y="3777615"/>
            <a:ext cx="8947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200" b="1">
                <a:latin typeface="Courier New" panose="02070309020205020404" charset="0"/>
                <a:cs typeface="Courier New" panose="02070309020205020404" charset="0"/>
              </a:rPr>
              <a:t>Charger</a:t>
            </a:r>
            <a:endParaRPr lang="en-US" altLang="zh-CN" sz="1200" b="1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431665" y="3275965"/>
            <a:ext cx="111633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Smart Plug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017385" y="3446145"/>
            <a:ext cx="111633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Smart Plug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715635" y="4947920"/>
            <a:ext cx="168910" cy="360680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7017385" y="4022725"/>
            <a:ext cx="111633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Smart Plug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547995" y="4718050"/>
            <a:ext cx="57277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Relay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1" name="圆角矩形 80"/>
          <p:cNvSpPr/>
          <p:nvPr>
            <p:custDataLst>
              <p:tags r:id="rId42"/>
            </p:custDataLst>
          </p:nvPr>
        </p:nvSpPr>
        <p:spPr>
          <a:xfrm>
            <a:off x="3010535" y="3145790"/>
            <a:ext cx="4971415" cy="2948305"/>
          </a:xfrm>
          <a:prstGeom prst="roundRect">
            <a:avLst>
              <a:gd name="adj" fmla="val 4918"/>
            </a:avLst>
          </a:prstGeom>
          <a:noFill/>
          <a:ln w="12700" cmpd="sng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aseline="30000">
              <a:solidFill>
                <a:schemeClr val="bg1">
                  <a:lumMod val="65000"/>
                </a:schemeClr>
              </a:solidFill>
              <a:uFillTx/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636645" y="5722620"/>
            <a:ext cx="14712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200" b="1">
                <a:latin typeface="Courier New" panose="02070309020205020404" charset="0"/>
                <a:cs typeface="Courier New" panose="02070309020205020404" charset="0"/>
              </a:rPr>
              <a:t>Battery Module</a:t>
            </a:r>
            <a:endParaRPr lang="en-US" altLang="zh-CN" sz="1200" b="1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410960" y="3380740"/>
            <a:ext cx="65278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Outlet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268220" y="4156710"/>
            <a:ext cx="171450" cy="334645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35">
            <a:alphaModFix amt="55000"/>
            <a:grayscl/>
          </a:blip>
          <a:stretch>
            <a:fillRect/>
          </a:stretch>
        </p:blipFill>
        <p:spPr>
          <a:xfrm>
            <a:off x="1936750" y="5154930"/>
            <a:ext cx="406400" cy="60198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517640" y="1064260"/>
            <a:ext cx="478155" cy="3702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550670" y="3023870"/>
            <a:ext cx="534670" cy="466090"/>
          </a:xfrm>
          <a:prstGeom prst="rect">
            <a:avLst/>
          </a:prstGeom>
        </p:spPr>
      </p:pic>
      <p:sp>
        <p:nvSpPr>
          <p:cNvPr id="89" name="椭圆 88"/>
          <p:cNvSpPr/>
          <p:nvPr/>
        </p:nvSpPr>
        <p:spPr>
          <a:xfrm>
            <a:off x="4905375" y="4491355"/>
            <a:ext cx="276225" cy="267335"/>
          </a:xfrm>
          <a:prstGeom prst="ellipse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1</a:t>
            </a:r>
            <a:endParaRPr lang="en-US" altLang="zh-CN" sz="16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3234055" y="3755390"/>
            <a:ext cx="276225" cy="267335"/>
          </a:xfrm>
          <a:prstGeom prst="ellipse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2</a:t>
            </a:r>
            <a:endParaRPr lang="en-US" altLang="zh-CN" sz="16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7114540" y="5029835"/>
            <a:ext cx="276225" cy="267335"/>
          </a:xfrm>
          <a:prstGeom prst="ellipse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3</a:t>
            </a:r>
            <a:endParaRPr lang="en-US" altLang="zh-CN" sz="16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92" name="椭圆 91"/>
          <p:cNvSpPr/>
          <p:nvPr/>
        </p:nvSpPr>
        <p:spPr>
          <a:xfrm>
            <a:off x="5439410" y="2160905"/>
            <a:ext cx="276225" cy="267335"/>
          </a:xfrm>
          <a:prstGeom prst="ellipse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4</a:t>
            </a:r>
            <a:endParaRPr lang="en-US" altLang="zh-CN" sz="16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93" name="椭圆 92"/>
          <p:cNvSpPr/>
          <p:nvPr/>
        </p:nvSpPr>
        <p:spPr>
          <a:xfrm>
            <a:off x="2163445" y="3216275"/>
            <a:ext cx="276225" cy="267335"/>
          </a:xfrm>
          <a:prstGeom prst="ellipse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5</a:t>
            </a:r>
            <a:endParaRPr lang="en-US" altLang="zh-CN" sz="16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94" name="椭圆 93"/>
          <p:cNvSpPr/>
          <p:nvPr/>
        </p:nvSpPr>
        <p:spPr>
          <a:xfrm>
            <a:off x="2361565" y="5308600"/>
            <a:ext cx="276225" cy="267335"/>
          </a:xfrm>
          <a:prstGeom prst="ellipse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6</a:t>
            </a:r>
            <a:endParaRPr lang="en-US" altLang="zh-CN" sz="16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</p:spTree>
    <p:custDataLst>
      <p:tags r:id="rId4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30705" y="5535295"/>
            <a:ext cx="10363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Rack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227060" y="1334770"/>
            <a:ext cx="22212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Open Source Lab</a:t>
            </a:r>
            <a:endParaRPr lang="en-US" altLang="zh-CN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24" name="图片 23"/>
          <p:cNvPicPr/>
          <p:nvPr/>
        </p:nvPicPr>
        <p:blipFill>
          <a:blip r:embed="rId1"/>
          <a:stretch>
            <a:fillRect/>
          </a:stretch>
        </p:blipFill>
        <p:spPr>
          <a:xfrm>
            <a:off x="1148715" y="1247775"/>
            <a:ext cx="1718310" cy="422656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060" y="1546225"/>
            <a:ext cx="1612900" cy="105219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25" y="3636010"/>
            <a:ext cx="299720" cy="63944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595" y="2934970"/>
            <a:ext cx="590550" cy="42291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4462145" y="3072765"/>
            <a:ext cx="189547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DC/DC </a:t>
            </a: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Converter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1595" y="4553585"/>
            <a:ext cx="800735" cy="55943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2270" y="4652010"/>
            <a:ext cx="252095" cy="461010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1025" y="3869055"/>
            <a:ext cx="661035" cy="406400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2270" y="3843020"/>
            <a:ext cx="592455" cy="43243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9880" y="2934970"/>
            <a:ext cx="469900" cy="5949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267960" y="1949450"/>
            <a:ext cx="13442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Electrical Box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82135" y="3867785"/>
            <a:ext cx="88582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Relay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90440" y="4711065"/>
            <a:ext cx="12388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AC/DC Breaker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061835" y="3113405"/>
            <a:ext cx="189547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Emergency Swtich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061835" y="4799965"/>
            <a:ext cx="285686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Surge/Lightning Protect Device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331075" y="3956685"/>
            <a:ext cx="16935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Terminal/Connectors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0208260" y="4030345"/>
            <a:ext cx="133413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Various Cables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commondata" val="eyJoZGlkIjoiZmMwMDQ3NmU4NjU1OWFiNjEwNGQwZTA3YTg5MDBlN2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WPS 演示</Application>
  <PresentationFormat>宽屏</PresentationFormat>
  <Paragraphs>69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Courier New</vt:lpstr>
      <vt:lpstr>Bahnschrift SemiBold</vt:lpstr>
      <vt:lpstr>Microsoft YaHei UI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WPS_1685937545</cp:lastModifiedBy>
  <cp:revision>430</cp:revision>
  <dcterms:created xsi:type="dcterms:W3CDTF">2019-06-19T02:08:00Z</dcterms:created>
  <dcterms:modified xsi:type="dcterms:W3CDTF">2025-09-26T19:08:44Z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D7BA876770A34E98855E256F14397A1E_11</vt:lpwstr>
  </property>
</Properties>
</file>