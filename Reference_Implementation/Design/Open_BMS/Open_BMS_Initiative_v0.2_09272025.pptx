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4" r:id="rId3"/>
    <p:sldId id="330" r:id="rId5"/>
    <p:sldId id="332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7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2362"/>
    <a:srgbClr val="172F72"/>
    <a:srgbClr val="192969"/>
    <a:srgbClr val="FFFAE9"/>
    <a:srgbClr val="1A2566"/>
    <a:srgbClr val="333EAF"/>
    <a:srgbClr val="1C2261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97"/>
        <p:guide pos="388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8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Open BMS Initiative, DEGCent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 9/27/2025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Open BMS Initiative, DEGCent</a:t>
            </a:r>
            <a:r>
              <a:rPr lang="zh-CN" altLang="en-US"/>
              <a:t>，</a:t>
            </a:r>
            <a:r>
              <a:rPr lang="en-US" altLang="zh-CN"/>
              <a:t> 9/26/2025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Open BMS Initiative, DEGCent, 9/26/2025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tags" Target="../tags/tag64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3" Type="http://schemas.openxmlformats.org/officeDocument/2006/relationships/notesSlide" Target="../notesSlides/notesSlide1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70.xml"/><Relationship Id="rId20" Type="http://schemas.openxmlformats.org/officeDocument/2006/relationships/image" Target="../media/image13.png"/><Relationship Id="rId2" Type="http://schemas.openxmlformats.org/officeDocument/2006/relationships/image" Target="../media/image1.png"/><Relationship Id="rId19" Type="http://schemas.openxmlformats.org/officeDocument/2006/relationships/image" Target="../media/image12.png"/><Relationship Id="rId18" Type="http://schemas.openxmlformats.org/officeDocument/2006/relationships/tags" Target="../tags/tag69.xml"/><Relationship Id="rId17" Type="http://schemas.openxmlformats.org/officeDocument/2006/relationships/tags" Target="../tags/tag68.xml"/><Relationship Id="rId16" Type="http://schemas.openxmlformats.org/officeDocument/2006/relationships/image" Target="../media/image11.png"/><Relationship Id="rId15" Type="http://schemas.openxmlformats.org/officeDocument/2006/relationships/image" Target="../media/image10.png"/><Relationship Id="rId14" Type="http://schemas.openxmlformats.org/officeDocument/2006/relationships/tags" Target="../tags/tag67.xml"/><Relationship Id="rId13" Type="http://schemas.openxmlformats.org/officeDocument/2006/relationships/image" Target="../media/image9.png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image" Target="../media/image8.pn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2" Type="http://schemas.openxmlformats.org/officeDocument/2006/relationships/notesSlide" Target="../notesSlides/notesSlide2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80.xml"/><Relationship Id="rId3" Type="http://schemas.openxmlformats.org/officeDocument/2006/relationships/image" Target="../media/image13.png"/><Relationship Id="rId29" Type="http://schemas.openxmlformats.org/officeDocument/2006/relationships/image" Target="../media/image32.png"/><Relationship Id="rId28" Type="http://schemas.openxmlformats.org/officeDocument/2006/relationships/image" Target="../media/image31.png"/><Relationship Id="rId27" Type="http://schemas.openxmlformats.org/officeDocument/2006/relationships/image" Target="../media/image30.png"/><Relationship Id="rId26" Type="http://schemas.openxmlformats.org/officeDocument/2006/relationships/tags" Target="../tags/tag79.xml"/><Relationship Id="rId25" Type="http://schemas.openxmlformats.org/officeDocument/2006/relationships/image" Target="../media/image29.png"/><Relationship Id="rId24" Type="http://schemas.openxmlformats.org/officeDocument/2006/relationships/tags" Target="../tags/tag78.xml"/><Relationship Id="rId23" Type="http://schemas.openxmlformats.org/officeDocument/2006/relationships/tags" Target="../tags/tag77.xml"/><Relationship Id="rId22" Type="http://schemas.openxmlformats.org/officeDocument/2006/relationships/tags" Target="../tags/tag76.xml"/><Relationship Id="rId21" Type="http://schemas.openxmlformats.org/officeDocument/2006/relationships/image" Target="../media/image28.png"/><Relationship Id="rId20" Type="http://schemas.openxmlformats.org/officeDocument/2006/relationships/image" Target="../media/image27.png"/><Relationship Id="rId2" Type="http://schemas.openxmlformats.org/officeDocument/2006/relationships/tags" Target="../tags/tag72.xml"/><Relationship Id="rId19" Type="http://schemas.openxmlformats.org/officeDocument/2006/relationships/image" Target="../media/image26.png"/><Relationship Id="rId18" Type="http://schemas.openxmlformats.org/officeDocument/2006/relationships/image" Target="../media/image25.jpeg"/><Relationship Id="rId17" Type="http://schemas.openxmlformats.org/officeDocument/2006/relationships/image" Target="../media/image24.png"/><Relationship Id="rId16" Type="http://schemas.openxmlformats.org/officeDocument/2006/relationships/image" Target="../media/image23.png"/><Relationship Id="rId15" Type="http://schemas.openxmlformats.org/officeDocument/2006/relationships/image" Target="../media/image22.png"/><Relationship Id="rId14" Type="http://schemas.openxmlformats.org/officeDocument/2006/relationships/image" Target="../media/image21.png"/><Relationship Id="rId13" Type="http://schemas.openxmlformats.org/officeDocument/2006/relationships/image" Target="../media/image20.jpeg"/><Relationship Id="rId12" Type="http://schemas.openxmlformats.org/officeDocument/2006/relationships/image" Target="../media/image19.jpeg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1" Type="http://schemas.openxmlformats.org/officeDocument/2006/relationships/tags" Target="../tags/tag7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29.png"/><Relationship Id="rId2" Type="http://schemas.openxmlformats.org/officeDocument/2006/relationships/image" Target="../media/image34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81.xml"/><Relationship Id="rId1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圆角矩形 63"/>
          <p:cNvSpPr/>
          <p:nvPr>
            <p:custDataLst>
              <p:tags r:id="rId1"/>
            </p:custDataLst>
          </p:nvPr>
        </p:nvSpPr>
        <p:spPr>
          <a:xfrm>
            <a:off x="4346575" y="2792095"/>
            <a:ext cx="940435" cy="2538730"/>
          </a:xfrm>
          <a:prstGeom prst="roundRect">
            <a:avLst>
              <a:gd name="adj" fmla="val 3323"/>
            </a:avLst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090" y="2952115"/>
            <a:ext cx="803275" cy="1198245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3"/>
          <a:srcRect l="25509" t="3806" r="26944" b="7194"/>
          <a:stretch>
            <a:fillRect/>
          </a:stretch>
        </p:blipFill>
        <p:spPr>
          <a:xfrm>
            <a:off x="4549775" y="4283075"/>
            <a:ext cx="548640" cy="92964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9454515" y="2324100"/>
            <a:ext cx="123571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en-US" altLang="zh-CN" sz="900">
                <a:latin typeface="Courier New" panose="02070309020205020404" charset="0"/>
                <a:cs typeface="Courier New" panose="02070309020205020404" charset="0"/>
              </a:rPr>
              <a:t>Utility Service</a:t>
            </a:r>
            <a:endParaRPr lang="en-US" altLang="zh-CN" sz="9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931785" y="2487295"/>
            <a:ext cx="100076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900">
                <a:latin typeface="Courier New" panose="02070309020205020404" charset="0"/>
                <a:cs typeface="Courier New" panose="02070309020205020404" charset="0"/>
              </a:rPr>
              <a:t>Smart Meter</a:t>
            </a:r>
            <a:endParaRPr lang="en-US" altLang="zh-CN" sz="9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374765" y="2037080"/>
            <a:ext cx="15570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lang="en-US" altLang="zh-CN" sz="900">
                <a:latin typeface="Courier New" panose="02070309020205020404" charset="0"/>
                <a:cs typeface="Courier New" panose="02070309020205020404" charset="0"/>
              </a:rPr>
              <a:t>Main Service Panel</a:t>
            </a:r>
            <a:endParaRPr lang="en-US" altLang="zh-CN" sz="900">
              <a:latin typeface="Courier New" panose="02070309020205020404" charset="0"/>
              <a:cs typeface="Courier New" panose="02070309020205020404" charset="0"/>
            </a:endParaRPr>
          </a:p>
          <a:p>
            <a:pPr algn="l">
              <a:buClrTx/>
              <a:buSzTx/>
              <a:buNone/>
            </a:pPr>
            <a:r>
              <a:rPr lang="en-US" altLang="zh-CN" sz="900">
                <a:latin typeface="Courier New" panose="02070309020205020404" charset="0"/>
                <a:cs typeface="Courier New" panose="02070309020205020404" charset="0"/>
              </a:rPr>
              <a:t>Non-backed up</a:t>
            </a:r>
            <a:endParaRPr lang="en-US" altLang="zh-CN" sz="9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809240" y="5414645"/>
            <a:ext cx="11252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 b="1">
                <a:latin typeface="Courier New" panose="02070309020205020404" charset="0"/>
                <a:cs typeface="Courier New" panose="02070309020205020404" charset="0"/>
              </a:rPr>
              <a:t>Sub Panel</a:t>
            </a:r>
            <a:endParaRPr lang="en-US" altLang="zh-CN" sz="1000" b="1">
              <a:latin typeface="Courier New" panose="02070309020205020404" charset="0"/>
              <a:cs typeface="Courier New" panose="0207030902020502040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900">
                <a:latin typeface="Courier New" panose="02070309020205020404" charset="0"/>
                <a:cs typeface="Courier New" panose="02070309020205020404" charset="0"/>
              </a:rPr>
              <a:t>Backed up</a:t>
            </a:r>
            <a:endParaRPr lang="en-US" altLang="zh-CN" sz="900">
              <a:latin typeface="Courier New" panose="02070309020205020404" charset="0"/>
              <a:cs typeface="Courier New" panose="0207030902020502040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900">
                <a:latin typeface="Courier New" panose="02070309020205020404" charset="0"/>
                <a:cs typeface="Courier New" panose="02070309020205020404" charset="0"/>
              </a:rPr>
              <a:t>Smart Modules</a:t>
            </a:r>
            <a:endParaRPr lang="en-US" altLang="zh-CN" sz="900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0205" y="4382135"/>
            <a:ext cx="510540" cy="99949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620" y="1997710"/>
            <a:ext cx="772160" cy="489585"/>
          </a:xfrm>
          <a:prstGeom prst="rect">
            <a:avLst/>
          </a:prstGeom>
          <a:ln w="15875">
            <a:solidFill>
              <a:schemeClr val="accent2">
                <a:lumMod val="75000"/>
              </a:schemeClr>
            </a:solidFill>
            <a:prstDash val="dash"/>
          </a:ln>
        </p:spPr>
      </p:pic>
      <p:sp>
        <p:nvSpPr>
          <p:cNvPr id="34" name="文本框 33"/>
          <p:cNvSpPr txBox="1"/>
          <p:nvPr/>
        </p:nvSpPr>
        <p:spPr>
          <a:xfrm>
            <a:off x="4403090" y="1855470"/>
            <a:ext cx="9994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200" b="1">
                <a:latin typeface="Courier New" panose="02070309020205020404" charset="0"/>
                <a:cs typeface="Courier New" panose="02070309020205020404" charset="0"/>
              </a:rPr>
              <a:t>SolArk</a:t>
            </a:r>
            <a:endParaRPr lang="en-US" altLang="zh-CN" sz="1200" b="1">
              <a:latin typeface="Courier New" panose="02070309020205020404" charset="0"/>
              <a:cs typeface="Courier New" panose="0207030902020502040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900">
                <a:latin typeface="Courier New" panose="02070309020205020404" charset="0"/>
                <a:cs typeface="Courier New" panose="02070309020205020404" charset="0"/>
              </a:rPr>
              <a:t>5K 120/230V 48V Hybrid All-In-One Inverter</a:t>
            </a:r>
            <a:endParaRPr lang="en-US" altLang="zh-CN" sz="9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486910" y="5414645"/>
            <a:ext cx="917575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 b="1">
                <a:latin typeface="Courier New" panose="02070309020205020404" charset="0"/>
                <a:cs typeface="Courier New" panose="02070309020205020404" charset="0"/>
              </a:rPr>
              <a:t>Discovery Battery</a:t>
            </a:r>
            <a:r>
              <a:rPr lang="en-US" altLang="zh-CN" sz="900">
                <a:latin typeface="Courier New" panose="02070309020205020404" charset="0"/>
                <a:cs typeface="Courier New" panose="02070309020205020404" charset="0"/>
              </a:rPr>
              <a:t> 20kWH</a:t>
            </a:r>
            <a:endParaRPr lang="en-US" altLang="zh-CN" sz="9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910205" y="3597275"/>
            <a:ext cx="86741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900" b="1">
                <a:latin typeface="Courier New" panose="02070309020205020404" charset="0"/>
                <a:cs typeface="Courier New" panose="02070309020205020404" charset="0"/>
              </a:rPr>
              <a:t>DC Solar</a:t>
            </a:r>
            <a:endParaRPr lang="en-US" altLang="zh-CN" sz="900" b="1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9220200" y="5661025"/>
            <a:ext cx="199326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2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Open Source Lab</a:t>
            </a:r>
            <a:endParaRPr lang="en-US" altLang="zh-CN" sz="12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cxnSp>
        <p:nvCxnSpPr>
          <p:cNvPr id="54" name="直接箭头连接符 53"/>
          <p:cNvCxnSpPr/>
          <p:nvPr>
            <p:custDataLst>
              <p:tags r:id="rId6"/>
            </p:custDataLst>
          </p:nvPr>
        </p:nvCxnSpPr>
        <p:spPr>
          <a:xfrm flipV="1">
            <a:off x="5286693" y="2988310"/>
            <a:ext cx="4475480" cy="0"/>
          </a:xfrm>
          <a:prstGeom prst="straightConnector1">
            <a:avLst/>
          </a:prstGeom>
          <a:ln w="31750">
            <a:solidFill>
              <a:schemeClr val="bg1">
                <a:lumMod val="65000"/>
              </a:schemeClr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8440" y="2487295"/>
            <a:ext cx="841375" cy="100203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2490" y="2644140"/>
            <a:ext cx="541020" cy="6883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0705" y="2723515"/>
            <a:ext cx="407035" cy="529590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894715" y="1517650"/>
            <a:ext cx="153797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en-US" altLang="zh-CN" sz="900">
                <a:latin typeface="Courier New" panose="02070309020205020404" charset="0"/>
                <a:cs typeface="Courier New" panose="02070309020205020404" charset="0"/>
              </a:rPr>
              <a:t>Software Defined</a:t>
            </a:r>
            <a:endParaRPr lang="en-US" altLang="zh-CN" sz="900">
              <a:latin typeface="Courier New" panose="02070309020205020404" charset="0"/>
              <a:cs typeface="Courier New" panose="02070309020205020404" charset="0"/>
            </a:endParaRPr>
          </a:p>
          <a:p>
            <a:pPr algn="ctr">
              <a:buClrTx/>
              <a:buSzTx/>
              <a:buFontTx/>
            </a:pPr>
            <a:r>
              <a:rPr lang="en-US" altLang="zh-CN" sz="1200" b="1">
                <a:latin typeface="Courier New" panose="02070309020205020404" charset="0"/>
                <a:cs typeface="Courier New" panose="02070309020205020404" charset="0"/>
              </a:rPr>
              <a:t>EMS</a:t>
            </a:r>
            <a:endParaRPr lang="en-US" altLang="zh-CN" sz="1200" b="1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6865" y="2275205"/>
            <a:ext cx="264160" cy="86360"/>
          </a:xfrm>
          <a:prstGeom prst="rect">
            <a:avLst/>
          </a:prstGeom>
        </p:spPr>
      </p:pic>
      <p:cxnSp>
        <p:nvCxnSpPr>
          <p:cNvPr id="63" name="直接箭头连接符 62"/>
          <p:cNvCxnSpPr/>
          <p:nvPr>
            <p:custDataLst>
              <p:tags r:id="rId11"/>
            </p:custDataLst>
          </p:nvPr>
        </p:nvCxnSpPr>
        <p:spPr>
          <a:xfrm flipV="1">
            <a:off x="3467418" y="4853305"/>
            <a:ext cx="808355" cy="0"/>
          </a:xfrm>
          <a:prstGeom prst="straightConnector1">
            <a:avLst/>
          </a:prstGeom>
          <a:ln w="31750">
            <a:solidFill>
              <a:schemeClr val="bg1">
                <a:lumMod val="65000"/>
              </a:schemeClr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>
            <p:custDataLst>
              <p:tags r:id="rId12"/>
            </p:custDataLst>
          </p:nvPr>
        </p:nvCxnSpPr>
        <p:spPr>
          <a:xfrm flipH="1" flipV="1">
            <a:off x="3420428" y="3270885"/>
            <a:ext cx="901700" cy="0"/>
          </a:xfrm>
          <a:prstGeom prst="straightConnector1">
            <a:avLst/>
          </a:prstGeom>
          <a:ln w="25400">
            <a:solidFill>
              <a:schemeClr val="bg1">
                <a:lumMod val="65000"/>
              </a:schemeClr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39720" y="2988310"/>
            <a:ext cx="797560" cy="567055"/>
          </a:xfrm>
          <a:prstGeom prst="rect">
            <a:avLst/>
          </a:prstGeom>
        </p:spPr>
      </p:pic>
      <p:pic>
        <p:nvPicPr>
          <p:cNvPr id="66" name="图片 65" descr="充电强图片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alphaModFix amt="55000"/>
            <a:grayscl/>
          </a:blip>
          <a:stretch>
            <a:fillRect/>
          </a:stretch>
        </p:blipFill>
        <p:spPr>
          <a:xfrm>
            <a:off x="1388745" y="4349750"/>
            <a:ext cx="419735" cy="487045"/>
          </a:xfrm>
          <a:prstGeom prst="rect">
            <a:avLst/>
          </a:prstGeom>
        </p:spPr>
      </p:pic>
      <p:pic>
        <p:nvPicPr>
          <p:cNvPr id="71" name="图片 70"/>
          <p:cNvPicPr/>
          <p:nvPr/>
        </p:nvPicPr>
        <p:blipFill>
          <a:blip r:embed="rId16">
            <a:alphaModFix amt="75000"/>
            <a:grayscl/>
          </a:blip>
          <a:srcRect l="7319" t="20830" r="7289" b="20830"/>
          <a:stretch>
            <a:fillRect/>
          </a:stretch>
        </p:blipFill>
        <p:spPr>
          <a:xfrm>
            <a:off x="1277620" y="5074920"/>
            <a:ext cx="593090" cy="42926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4" name="直接箭头连接符 73"/>
          <p:cNvCxnSpPr/>
          <p:nvPr>
            <p:custDataLst>
              <p:tags r:id="rId17"/>
            </p:custDataLst>
          </p:nvPr>
        </p:nvCxnSpPr>
        <p:spPr>
          <a:xfrm flipV="1">
            <a:off x="1927543" y="4675505"/>
            <a:ext cx="808355" cy="0"/>
          </a:xfrm>
          <a:prstGeom prst="straightConnector1">
            <a:avLst/>
          </a:prstGeom>
          <a:ln w="22225">
            <a:solidFill>
              <a:schemeClr val="bg1">
                <a:lumMod val="65000"/>
              </a:schemeClr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>
            <p:custDataLst>
              <p:tags r:id="rId18"/>
            </p:custDataLst>
          </p:nvPr>
        </p:nvCxnSpPr>
        <p:spPr>
          <a:xfrm flipV="1">
            <a:off x="1927543" y="5212715"/>
            <a:ext cx="808355" cy="0"/>
          </a:xfrm>
          <a:prstGeom prst="straightConnector1">
            <a:avLst/>
          </a:prstGeom>
          <a:ln w="22225">
            <a:solidFill>
              <a:schemeClr val="bg1">
                <a:lumMod val="65000"/>
              </a:schemeClr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6" name="图片 7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78880" y="3705225"/>
            <a:ext cx="2473325" cy="1709420"/>
          </a:xfrm>
          <a:prstGeom prst="rect">
            <a:avLst/>
          </a:prstGeom>
        </p:spPr>
      </p:pic>
      <p:pic>
        <p:nvPicPr>
          <p:cNvPr id="78" name="图片 77"/>
          <p:cNvPicPr/>
          <p:nvPr/>
        </p:nvPicPr>
        <p:blipFill>
          <a:blip r:embed="rId20">
            <a:alphaModFix amt="40000"/>
            <a:grayscl/>
          </a:blip>
          <a:srcRect l="28704" t="14478" r="28056" b="23605"/>
          <a:stretch>
            <a:fillRect/>
          </a:stretch>
        </p:blipFill>
        <p:spPr>
          <a:xfrm>
            <a:off x="8870950" y="4115435"/>
            <a:ext cx="349250" cy="5765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9" name="椭圆 88"/>
          <p:cNvSpPr/>
          <p:nvPr/>
        </p:nvSpPr>
        <p:spPr>
          <a:xfrm>
            <a:off x="5396230" y="4490085"/>
            <a:ext cx="276225" cy="267335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2120"/>
              </a:lnSpc>
            </a:pPr>
            <a:r>
              <a:rPr lang="en-US" altLang="zh-CN" sz="1600" b="1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0</a:t>
            </a:r>
            <a:endParaRPr lang="en-US" altLang="zh-CN" sz="16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5957570" y="5414645"/>
            <a:ext cx="3248660" cy="419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ts val="1280"/>
              </a:lnSpc>
              <a:buClrTx/>
              <a:buSzTx/>
              <a:buFontTx/>
            </a:pPr>
            <a:r>
              <a:rPr lang="en-US" altLang="zh-CN" sz="1000" b="1">
                <a:solidFill>
                  <a:srgbClr val="C00000"/>
                </a:solidFill>
                <a:latin typeface="Courier New" panose="02070309020205020404" charset="0"/>
                <a:cs typeface="Courier New" panose="02070309020205020404" charset="0"/>
              </a:rPr>
              <a:t>Open Source BMS </a:t>
            </a:r>
            <a:endParaRPr lang="en-US" altLang="zh-CN" sz="1000" b="1">
              <a:solidFill>
                <a:srgbClr val="C00000"/>
              </a:solidFill>
              <a:latin typeface="Courier New" panose="02070309020205020404" charset="0"/>
              <a:cs typeface="Courier New" panose="02070309020205020404" charset="0"/>
            </a:endParaRPr>
          </a:p>
          <a:p>
            <a:pPr indent="0" algn="ctr" fontAlgn="auto">
              <a:lnSpc>
                <a:spcPts val="1280"/>
              </a:lnSpc>
              <a:buClrTx/>
              <a:buSzTx/>
              <a:buFontTx/>
            </a:pPr>
            <a:r>
              <a:rPr lang="en-US" altLang="zh-CN" sz="1000" b="1">
                <a:latin typeface="Courier New" panose="02070309020205020404" charset="0"/>
                <a:cs typeface="Courier New" panose="02070309020205020404" charset="0"/>
              </a:rPr>
              <a:t>Development &amp; Testing Envrionment</a:t>
            </a:r>
            <a:endParaRPr lang="en-US" altLang="zh-CN" sz="1000" b="1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809240" y="725805"/>
            <a:ext cx="6976745" cy="255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ts val="1280"/>
              </a:lnSpc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House Renawable Energy System Development &amp; Testing Envrionment</a:t>
            </a:r>
            <a:endParaRPr lang="en-US" altLang="zh-CN" sz="14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圆角矩形 63"/>
          <p:cNvSpPr/>
          <p:nvPr>
            <p:custDataLst>
              <p:tags r:id="rId1"/>
            </p:custDataLst>
          </p:nvPr>
        </p:nvSpPr>
        <p:spPr>
          <a:xfrm>
            <a:off x="5229860" y="3061335"/>
            <a:ext cx="2117090" cy="1359535"/>
          </a:xfrm>
          <a:prstGeom prst="roundRect">
            <a:avLst>
              <a:gd name="adj" fmla="val 3323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67" name="圆角矩形 66"/>
          <p:cNvSpPr/>
          <p:nvPr>
            <p:custDataLst>
              <p:tags r:id="rId2"/>
            </p:custDataLst>
          </p:nvPr>
        </p:nvSpPr>
        <p:spPr>
          <a:xfrm>
            <a:off x="1189990" y="2101215"/>
            <a:ext cx="1350645" cy="692785"/>
          </a:xfrm>
          <a:prstGeom prst="roundRect">
            <a:avLst>
              <a:gd name="adj" fmla="val 3323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4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3">
            <a:alphaModFix amt="40000"/>
            <a:grayscl/>
          </a:blip>
          <a:srcRect l="28704" t="14478" r="28056" b="23605"/>
          <a:stretch>
            <a:fillRect/>
          </a:stretch>
        </p:blipFill>
        <p:spPr>
          <a:xfrm>
            <a:off x="10405110" y="2294255"/>
            <a:ext cx="501015" cy="8235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" name="图片 110"/>
          <p:cNvPicPr/>
          <p:nvPr/>
        </p:nvPicPr>
        <p:blipFill>
          <a:blip r:embed="rId4"/>
          <a:srcRect l="15745" t="39496" r="72922" b="39202"/>
          <a:stretch>
            <a:fillRect/>
          </a:stretch>
        </p:blipFill>
        <p:spPr>
          <a:xfrm>
            <a:off x="1294765" y="2134870"/>
            <a:ext cx="277495" cy="29654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组合 1"/>
          <p:cNvGrpSpPr/>
          <p:nvPr/>
        </p:nvGrpSpPr>
        <p:grpSpPr>
          <a:xfrm>
            <a:off x="1806575" y="2453640"/>
            <a:ext cx="495020" cy="275336"/>
            <a:chOff x="7397" y="3536"/>
            <a:chExt cx="1395" cy="723"/>
          </a:xfrm>
        </p:grpSpPr>
        <p:pic>
          <p:nvPicPr>
            <p:cNvPr id="115" name="图片 114"/>
            <p:cNvPicPr/>
            <p:nvPr/>
          </p:nvPicPr>
          <p:blipFill>
            <a:blip r:embed="rId5">
              <a:alphaModFix amt="60000"/>
              <a:grayscl/>
            </a:blip>
            <a:srcRect l="10185" t="22667" r="11852" b="24259"/>
            <a:stretch>
              <a:fillRect/>
            </a:stretch>
          </p:blipFill>
          <p:spPr>
            <a:xfrm>
              <a:off x="7397" y="3536"/>
              <a:ext cx="1395" cy="72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6" name="图片 115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7708" y="3604"/>
              <a:ext cx="773" cy="533"/>
            </a:xfrm>
            <a:prstGeom prst="rect">
              <a:avLst/>
            </a:prstGeom>
            <a:noFill/>
            <a:ln w="9525">
              <a:noFill/>
            </a:ln>
          </p:spPr>
        </p:pic>
      </p:grpSp>
      <p:cxnSp>
        <p:nvCxnSpPr>
          <p:cNvPr id="46" name="直接箭头连接符 45"/>
          <p:cNvCxnSpPr>
            <a:stCxn id="64" idx="0"/>
          </p:cNvCxnSpPr>
          <p:nvPr>
            <p:custDataLst>
              <p:tags r:id="rId7"/>
            </p:custDataLst>
          </p:nvPr>
        </p:nvCxnSpPr>
        <p:spPr>
          <a:xfrm flipH="1" flipV="1">
            <a:off x="6281103" y="1763395"/>
            <a:ext cx="0" cy="129794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>
            <p:custDataLst>
              <p:tags r:id="rId8"/>
            </p:custDataLst>
          </p:nvPr>
        </p:nvSpPr>
        <p:spPr>
          <a:xfrm>
            <a:off x="1525905" y="2184400"/>
            <a:ext cx="1064260" cy="26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buClrTx/>
              <a:buSzTx/>
              <a:buFontTx/>
            </a:pPr>
            <a:r>
              <a:rPr lang="en-US" altLang="zh-CN" sz="90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" panose="020B0502040204020203" charset="0"/>
                <a:ea typeface="Microsoft YaHei UI" panose="020B0503020204020204" charset="-122"/>
                <a:cs typeface="Bahnschrift SemiBold" panose="020B0502040204020203" charset="0"/>
                <a:sym typeface="+mn-ea"/>
              </a:rPr>
              <a:t>Home Assistant</a:t>
            </a:r>
            <a:endParaRPr lang="en-US" altLang="zh-CN" sz="900">
              <a:solidFill>
                <a:schemeClr val="tx1">
                  <a:lumMod val="50000"/>
                  <a:lumOff val="50000"/>
                </a:schemeClr>
              </a:solidFill>
              <a:latin typeface="Bahnschrift SemiBold" panose="020B0502040204020203" charset="0"/>
              <a:ea typeface="Microsoft YaHei UI" panose="020B0503020204020204" charset="-122"/>
              <a:cs typeface="Bahnschrift SemiBold" panose="020B0502040204020203" charset="0"/>
              <a:sym typeface="+mn-ea"/>
            </a:endParaRPr>
          </a:p>
        </p:txBody>
      </p:sp>
      <p:pic>
        <p:nvPicPr>
          <p:cNvPr id="5" name="图片 4" descr="smart_plu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grayscl/>
          </a:blip>
          <a:stretch>
            <a:fillRect/>
          </a:stretch>
        </p:blipFill>
        <p:spPr>
          <a:xfrm>
            <a:off x="6155690" y="1965325"/>
            <a:ext cx="271780" cy="216535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sp>
        <p:nvSpPr>
          <p:cNvPr id="70" name="文本框 69"/>
          <p:cNvSpPr txBox="1"/>
          <p:nvPr/>
        </p:nvSpPr>
        <p:spPr>
          <a:xfrm>
            <a:off x="860425" y="1504950"/>
            <a:ext cx="2545080" cy="290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ts val="1840"/>
              </a:lnSpc>
            </a:pPr>
            <a:r>
              <a:rPr lang="en-US" altLang="en-GB" sz="14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Software Defined </a:t>
            </a:r>
            <a:r>
              <a:rPr lang="en-US" altLang="en-GB" sz="1400" b="1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  <a:sym typeface="+mn-ea"/>
              </a:rPr>
              <a:t>EMS</a:t>
            </a:r>
            <a:endParaRPr lang="en-US" altLang="en-GB" sz="14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7465" y="2473325"/>
            <a:ext cx="264795" cy="25590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12"/>
          <a:stretch>
            <a:fillRect/>
          </a:stretch>
        </p:blipFill>
        <p:spPr>
          <a:xfrm rot="16200000">
            <a:off x="5466080" y="3762375"/>
            <a:ext cx="408940" cy="415290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12"/>
          <a:stretch>
            <a:fillRect/>
          </a:stretch>
        </p:blipFill>
        <p:spPr>
          <a:xfrm rot="16200000">
            <a:off x="5899150" y="3762375"/>
            <a:ext cx="408940" cy="41529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2"/>
          <a:stretch>
            <a:fillRect/>
          </a:stretch>
        </p:blipFill>
        <p:spPr>
          <a:xfrm rot="16200000">
            <a:off x="6765290" y="3762375"/>
            <a:ext cx="408940" cy="415290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12"/>
          <a:stretch>
            <a:fillRect/>
          </a:stretch>
        </p:blipFill>
        <p:spPr>
          <a:xfrm rot="16200000">
            <a:off x="6332220" y="3762375"/>
            <a:ext cx="408940" cy="415290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13"/>
          <a:srcRect l="5761" t="34235" r="37149" b="12246"/>
          <a:stretch>
            <a:fillRect/>
          </a:stretch>
        </p:blipFill>
        <p:spPr>
          <a:xfrm>
            <a:off x="5824220" y="3189605"/>
            <a:ext cx="776605" cy="34226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391150" y="3268980"/>
            <a:ext cx="48514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000" b="1">
                <a:latin typeface="Courier New" panose="02070309020205020404" charset="0"/>
                <a:cs typeface="Courier New" panose="02070309020205020404" charset="0"/>
                <a:sym typeface="+mn-ea"/>
              </a:rPr>
              <a:t>BMS</a:t>
            </a:r>
            <a:endParaRPr lang="en-US" altLang="zh-CN" sz="1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414645" y="4174490"/>
            <a:ext cx="187896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800">
                <a:latin typeface="Courier New" panose="02070309020205020404" charset="0"/>
                <a:cs typeface="Courier New" panose="02070309020205020404" charset="0"/>
              </a:rPr>
              <a:t>LiFePO4 Cell 3.2V 32Ah, 16S</a:t>
            </a:r>
            <a:endParaRPr lang="en-US" altLang="zh-CN" sz="800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4"/>
          <a:srcRect l="14989" t="15917" r="3105" b="12848"/>
          <a:stretch>
            <a:fillRect/>
          </a:stretch>
        </p:blipFill>
        <p:spPr>
          <a:xfrm>
            <a:off x="8326120" y="3573145"/>
            <a:ext cx="721360" cy="470535"/>
          </a:xfrm>
          <a:prstGeom prst="rect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8188325" y="4174490"/>
            <a:ext cx="17094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200" b="1">
                <a:latin typeface="Courier New" panose="02070309020205020404" charset="0"/>
                <a:cs typeface="Courier New" panose="02070309020205020404" charset="0"/>
              </a:rPr>
              <a:t>Inverter</a:t>
            </a:r>
            <a:r>
              <a:rPr lang="en-US" altLang="zh-CN" sz="1000" b="1">
                <a:latin typeface="Courier New" panose="02070309020205020404" charset="0"/>
                <a:cs typeface="Courier New" panose="02070309020205020404" charset="0"/>
              </a:rPr>
              <a:t> </a:t>
            </a:r>
            <a:endParaRPr lang="en-US" altLang="zh-CN" sz="1000" b="1">
              <a:latin typeface="Courier New" panose="02070309020205020404" charset="0"/>
              <a:cs typeface="Courier New" panose="0207030902020502040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800">
                <a:latin typeface="Courier New" panose="02070309020205020404" charset="0"/>
                <a:cs typeface="Courier New" panose="02070309020205020404" charset="0"/>
                <a:sym typeface="+mn-ea"/>
              </a:rPr>
              <a:t>Off-Grid, </a:t>
            </a:r>
            <a:r>
              <a:rPr lang="en-US" altLang="zh-CN" sz="800">
                <a:latin typeface="Courier New" panose="02070309020205020404" charset="0"/>
                <a:cs typeface="Courier New" panose="02070309020205020404" charset="0"/>
              </a:rPr>
              <a:t>In/DC 48V, Out/AC 110V, 3.3kW, 60Hz</a:t>
            </a:r>
            <a:endParaRPr lang="en-US" altLang="zh-CN" sz="800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5"/>
          <a:srcRect l="46260" t="8853" r="19959" b="73374"/>
          <a:stretch>
            <a:fillRect/>
          </a:stretch>
        </p:blipFill>
        <p:spPr>
          <a:xfrm>
            <a:off x="5632450" y="2389505"/>
            <a:ext cx="1373505" cy="331470"/>
          </a:xfrm>
          <a:prstGeom prst="rect">
            <a:avLst/>
          </a:prstGeom>
          <a:ln w="9525">
            <a:solidFill>
              <a:schemeClr val="accent2">
                <a:lumMod val="75000"/>
              </a:schemeClr>
            </a:solidFill>
          </a:ln>
        </p:spPr>
      </p:pic>
      <p:sp>
        <p:nvSpPr>
          <p:cNvPr id="19" name="文本框 18"/>
          <p:cNvSpPr txBox="1"/>
          <p:nvPr/>
        </p:nvSpPr>
        <p:spPr>
          <a:xfrm>
            <a:off x="1158240" y="5678170"/>
            <a:ext cx="21101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2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Open Source Lab</a:t>
            </a:r>
            <a:endParaRPr lang="en-US" altLang="zh-CN" sz="12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1285875" y="3694430"/>
            <a:ext cx="314325" cy="52197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7605" y="4291965"/>
            <a:ext cx="581025" cy="506095"/>
          </a:xfrm>
          <a:prstGeom prst="rect">
            <a:avLst/>
          </a:prstGeom>
        </p:spPr>
      </p:pic>
      <p:pic>
        <p:nvPicPr>
          <p:cNvPr id="32" name="图片 31"/>
          <p:cNvPicPr/>
          <p:nvPr/>
        </p:nvPicPr>
        <p:blipFill>
          <a:blip r:embed="rId18"/>
          <a:stretch>
            <a:fillRect/>
          </a:stretch>
        </p:blipFill>
        <p:spPr>
          <a:xfrm>
            <a:off x="1247775" y="3074670"/>
            <a:ext cx="366395" cy="557530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691005" y="3798570"/>
            <a:ext cx="17145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800">
                <a:latin typeface="Courier New" panose="02070309020205020404" charset="0"/>
                <a:cs typeface="Courier New" panose="02070309020205020404" charset="0"/>
              </a:rPr>
              <a:t>Smoke detector</a:t>
            </a:r>
            <a:endParaRPr lang="en-US" altLang="zh-CN" sz="800">
              <a:latin typeface="Courier New" panose="02070309020205020404" charset="0"/>
              <a:cs typeface="Courier New" panose="0207030902020502040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800">
                <a:latin typeface="Courier New" panose="02070309020205020404" charset="0"/>
                <a:cs typeface="Courier New" panose="02070309020205020404" charset="0"/>
              </a:rPr>
              <a:t>Carbon Monoxide detector</a:t>
            </a:r>
            <a:endParaRPr lang="en-US" altLang="zh-CN" sz="8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691005" y="4449445"/>
            <a:ext cx="120078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800">
                <a:latin typeface="Courier New" panose="02070309020205020404" charset="0"/>
                <a:cs typeface="Courier New" panose="02070309020205020404" charset="0"/>
              </a:rPr>
              <a:t>Cooling fan</a:t>
            </a:r>
            <a:endParaRPr lang="en-US" altLang="zh-CN" sz="800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05955" y="5547360"/>
            <a:ext cx="704850" cy="467995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20">
            <a:alphaModFix amt="55000"/>
            <a:grayscl/>
          </a:blip>
          <a:stretch>
            <a:fillRect/>
          </a:stretch>
        </p:blipFill>
        <p:spPr>
          <a:xfrm>
            <a:off x="8453755" y="5412740"/>
            <a:ext cx="406400" cy="601980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53755" y="2308860"/>
            <a:ext cx="528320" cy="808990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5391150" y="3514090"/>
            <a:ext cx="190246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800" b="1">
                <a:latin typeface="Courier New" panose="02070309020205020404" charset="0"/>
                <a:cs typeface="Courier New" panose="02070309020205020404" charset="0"/>
              </a:rPr>
              <a:t>Lebre Solar / enAccess</a:t>
            </a:r>
            <a:endParaRPr lang="en-US" altLang="zh-CN" sz="800" b="1">
              <a:latin typeface="Courier New" panose="02070309020205020404" charset="0"/>
              <a:cs typeface="Courier New" panose="02070309020205020404" charset="0"/>
            </a:endParaRPr>
          </a:p>
        </p:txBody>
      </p:sp>
      <p:cxnSp>
        <p:nvCxnSpPr>
          <p:cNvPr id="66" name="直接箭头连接符 65"/>
          <p:cNvCxnSpPr/>
          <p:nvPr>
            <p:custDataLst>
              <p:tags r:id="rId22"/>
            </p:custDataLst>
          </p:nvPr>
        </p:nvCxnSpPr>
        <p:spPr>
          <a:xfrm flipH="1" flipV="1">
            <a:off x="9113838" y="2733040"/>
            <a:ext cx="779145" cy="0"/>
          </a:xfrm>
          <a:prstGeom prst="straightConnector1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 descr="smart_plug"/>
          <p:cNvPicPr>
            <a:picLocks noChangeAspect="1"/>
          </p:cNvPicPr>
          <p:nvPr/>
        </p:nvPicPr>
        <p:blipFill>
          <a:blip r:embed="rId10">
            <a:grayscl/>
          </a:blip>
          <a:stretch>
            <a:fillRect/>
          </a:stretch>
        </p:blipFill>
        <p:spPr>
          <a:xfrm>
            <a:off x="9283700" y="2637155"/>
            <a:ext cx="271780" cy="216535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cxnSp>
        <p:nvCxnSpPr>
          <p:cNvPr id="73" name="直接箭头连接符 72"/>
          <p:cNvCxnSpPr/>
          <p:nvPr>
            <p:custDataLst>
              <p:tags r:id="rId23"/>
            </p:custDataLst>
          </p:nvPr>
        </p:nvCxnSpPr>
        <p:spPr>
          <a:xfrm flipH="1">
            <a:off x="7488873" y="3846830"/>
            <a:ext cx="728980" cy="635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>
            <p:custDataLst>
              <p:tags r:id="rId24"/>
            </p:custDataLst>
          </p:nvPr>
        </p:nvCxnSpPr>
        <p:spPr>
          <a:xfrm>
            <a:off x="8716328" y="3162935"/>
            <a:ext cx="1270" cy="314960"/>
          </a:xfrm>
          <a:prstGeom prst="straightConnector1">
            <a:avLst/>
          </a:prstGeom>
          <a:ln w="34925">
            <a:solidFill>
              <a:schemeClr val="tx1">
                <a:lumMod val="65000"/>
                <a:lumOff val="35000"/>
              </a:schemeClr>
            </a:solidFill>
            <a:headEnd type="triangle" w="med" len="lg"/>
            <a:tailEnd type="none" w="med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7042785" y="2475865"/>
            <a:ext cx="8947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200" b="1">
                <a:latin typeface="Courier New" panose="02070309020205020404" charset="0"/>
                <a:cs typeface="Courier New" panose="02070309020205020404" charset="0"/>
              </a:rPr>
              <a:t>Charger</a:t>
            </a:r>
            <a:endParaRPr lang="en-US" altLang="zh-CN" sz="1200" b="1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427470" y="1974215"/>
            <a:ext cx="111633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800">
                <a:latin typeface="Courier New" panose="02070309020205020404" charset="0"/>
                <a:cs typeface="Courier New" panose="02070309020205020404" charset="0"/>
              </a:rPr>
              <a:t>Smart Plug</a:t>
            </a:r>
            <a:endParaRPr lang="en-US" altLang="zh-CN" sz="8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9059545" y="2389505"/>
            <a:ext cx="8382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800">
                <a:latin typeface="Courier New" panose="02070309020205020404" charset="0"/>
                <a:cs typeface="Courier New" panose="02070309020205020404" charset="0"/>
              </a:rPr>
              <a:t>Smart Plug</a:t>
            </a:r>
            <a:endParaRPr lang="en-US" altLang="zh-CN" sz="800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11440" y="3646170"/>
            <a:ext cx="168910" cy="360680"/>
          </a:xfrm>
          <a:prstGeom prst="rect">
            <a:avLst/>
          </a:prstGeom>
        </p:spPr>
      </p:pic>
      <p:sp>
        <p:nvSpPr>
          <p:cNvPr id="80" name="文本框 79"/>
          <p:cNvSpPr txBox="1"/>
          <p:nvPr/>
        </p:nvSpPr>
        <p:spPr>
          <a:xfrm>
            <a:off x="7543800" y="3416300"/>
            <a:ext cx="57277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900">
                <a:latin typeface="Courier New" panose="02070309020205020404" charset="0"/>
                <a:cs typeface="Courier New" panose="02070309020205020404" charset="0"/>
              </a:rPr>
              <a:t>Relay</a:t>
            </a:r>
            <a:endParaRPr lang="en-US" altLang="zh-CN" sz="9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81" name="圆角矩形 80"/>
          <p:cNvSpPr/>
          <p:nvPr>
            <p:custDataLst>
              <p:tags r:id="rId26"/>
            </p:custDataLst>
          </p:nvPr>
        </p:nvSpPr>
        <p:spPr>
          <a:xfrm>
            <a:off x="4806315" y="1844040"/>
            <a:ext cx="5266055" cy="2948305"/>
          </a:xfrm>
          <a:prstGeom prst="roundRect">
            <a:avLst>
              <a:gd name="adj" fmla="val 4918"/>
            </a:avLst>
          </a:prstGeom>
          <a:noFill/>
          <a:ln w="22225" cmpd="sng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aseline="30000">
              <a:solidFill>
                <a:schemeClr val="bg1">
                  <a:lumMod val="65000"/>
                </a:schemeClr>
              </a:solidFill>
              <a:uFillTx/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5632450" y="4420870"/>
            <a:ext cx="147129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200" b="1">
                <a:latin typeface="Courier New" panose="02070309020205020404" charset="0"/>
                <a:cs typeface="Courier New" panose="02070309020205020404" charset="0"/>
              </a:rPr>
              <a:t>Battery Module</a:t>
            </a:r>
            <a:endParaRPr lang="en-US" altLang="zh-CN" sz="1200" b="1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8406765" y="2078990"/>
            <a:ext cx="65278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900">
                <a:latin typeface="Courier New" panose="02070309020205020404" charset="0"/>
                <a:cs typeface="Courier New" panose="02070309020205020404" charset="0"/>
              </a:rPr>
              <a:t>Outlet</a:t>
            </a:r>
            <a:endParaRPr lang="en-US" altLang="zh-CN" sz="900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84" name="图片 83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93685" y="5601335"/>
            <a:ext cx="171450" cy="334645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20">
            <a:alphaModFix amt="55000"/>
            <a:grayscl/>
          </a:blip>
          <a:stretch>
            <a:fillRect/>
          </a:stretch>
        </p:blipFill>
        <p:spPr>
          <a:xfrm>
            <a:off x="8938895" y="5413375"/>
            <a:ext cx="406400" cy="601980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23720" y="3147060"/>
            <a:ext cx="478155" cy="370205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82565" y="5547360"/>
            <a:ext cx="534670" cy="466090"/>
          </a:xfrm>
          <a:prstGeom prst="rect">
            <a:avLst/>
          </a:prstGeom>
        </p:spPr>
      </p:pic>
      <p:sp>
        <p:nvSpPr>
          <p:cNvPr id="89" name="椭圆 88"/>
          <p:cNvSpPr/>
          <p:nvPr/>
        </p:nvSpPr>
        <p:spPr>
          <a:xfrm>
            <a:off x="6901180" y="3189605"/>
            <a:ext cx="276225" cy="267335"/>
          </a:xfrm>
          <a:prstGeom prst="ellipse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2120"/>
              </a:lnSpc>
            </a:pPr>
            <a:r>
              <a:rPr lang="en-US" altLang="zh-CN" sz="1600" b="1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1</a:t>
            </a:r>
            <a:endParaRPr lang="en-US" altLang="zh-CN" sz="16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90" name="椭圆 89"/>
          <p:cNvSpPr/>
          <p:nvPr/>
        </p:nvSpPr>
        <p:spPr>
          <a:xfrm>
            <a:off x="5229860" y="2453640"/>
            <a:ext cx="276225" cy="267335"/>
          </a:xfrm>
          <a:prstGeom prst="ellipse">
            <a:avLst/>
          </a:prstGeom>
          <a:noFill/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2120"/>
              </a:lnSpc>
            </a:pPr>
            <a:r>
              <a:rPr lang="en-US" altLang="zh-CN" sz="16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2</a:t>
            </a:r>
            <a:endParaRPr lang="en-US" altLang="zh-CN" sz="16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91" name="椭圆 90"/>
          <p:cNvSpPr/>
          <p:nvPr/>
        </p:nvSpPr>
        <p:spPr>
          <a:xfrm>
            <a:off x="9177020" y="3728085"/>
            <a:ext cx="276225" cy="267335"/>
          </a:xfrm>
          <a:prstGeom prst="ellipse">
            <a:avLst/>
          </a:prstGeom>
          <a:noFill/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2120"/>
              </a:lnSpc>
            </a:pPr>
            <a:r>
              <a:rPr lang="en-US" altLang="zh-CN" sz="16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3</a:t>
            </a:r>
            <a:endParaRPr lang="en-US" altLang="zh-CN" sz="16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92" name="椭圆 91"/>
          <p:cNvSpPr/>
          <p:nvPr/>
        </p:nvSpPr>
        <p:spPr>
          <a:xfrm>
            <a:off x="2733675" y="2256790"/>
            <a:ext cx="267335" cy="267335"/>
          </a:xfrm>
          <a:prstGeom prst="ellipse">
            <a:avLst/>
          </a:prstGeom>
          <a:noFill/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2120"/>
              </a:lnSpc>
            </a:pPr>
            <a:r>
              <a:rPr lang="en-US" altLang="zh-CN" sz="1600" b="1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4</a:t>
            </a:r>
            <a:endParaRPr lang="en-US" altLang="zh-CN" sz="1600" b="1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93" name="椭圆 92"/>
          <p:cNvSpPr/>
          <p:nvPr/>
        </p:nvSpPr>
        <p:spPr>
          <a:xfrm>
            <a:off x="5895340" y="5739765"/>
            <a:ext cx="276225" cy="267335"/>
          </a:xfrm>
          <a:prstGeom prst="ellipse">
            <a:avLst/>
          </a:prstGeom>
          <a:noFill/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2120"/>
              </a:lnSpc>
            </a:pPr>
            <a:r>
              <a:rPr lang="en-US" altLang="zh-CN" sz="16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5</a:t>
            </a:r>
            <a:endParaRPr lang="en-US" altLang="zh-CN" sz="16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94" name="椭圆 93"/>
          <p:cNvSpPr/>
          <p:nvPr/>
        </p:nvSpPr>
        <p:spPr>
          <a:xfrm>
            <a:off x="9453245" y="5739765"/>
            <a:ext cx="276225" cy="267335"/>
          </a:xfrm>
          <a:prstGeom prst="ellipse">
            <a:avLst/>
          </a:prstGeom>
          <a:noFill/>
          <a:ln w="31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0" algn="ctr" fontAlgn="auto">
              <a:lnSpc>
                <a:spcPts val="2120"/>
              </a:lnSpc>
            </a:pPr>
            <a:r>
              <a:rPr lang="en-US" altLang="zh-CN" sz="16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6</a:t>
            </a:r>
            <a:endParaRPr lang="en-US" altLang="zh-CN" sz="16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11040" y="834390"/>
            <a:ext cx="5694680" cy="255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ts val="1280"/>
              </a:lnSpc>
              <a:buClrTx/>
              <a:buSzTx/>
              <a:buFontTx/>
            </a:pPr>
            <a:r>
              <a:rPr lang="en-US" altLang="zh-CN" sz="1400" b="1">
                <a:solidFill>
                  <a:srgbClr val="C00000"/>
                </a:solidFill>
                <a:latin typeface="Courier New" panose="02070309020205020404" charset="0"/>
                <a:cs typeface="Courier New" panose="02070309020205020404" charset="0"/>
              </a:rPr>
              <a:t>Open Source BMS</a:t>
            </a:r>
            <a:r>
              <a:rPr lang="en-US" altLang="zh-CN" sz="1400">
                <a:latin typeface="Courier New" panose="02070309020205020404" charset="0"/>
                <a:cs typeface="Courier New" panose="02070309020205020404" charset="0"/>
              </a:rPr>
              <a:t> </a:t>
            </a:r>
            <a:r>
              <a:rPr lang="en-US" altLang="zh-CN" sz="1400" b="1">
                <a:latin typeface="Courier New" panose="02070309020205020404" charset="0"/>
                <a:cs typeface="Courier New" panose="02070309020205020404" charset="0"/>
              </a:rPr>
              <a:t>Development &amp; Testing Envrionment</a:t>
            </a:r>
            <a:endParaRPr lang="en-US" altLang="zh-CN" sz="1400" b="1">
              <a:latin typeface="Courier New" panose="02070309020205020404" charset="0"/>
              <a:cs typeface="Courier New" panose="02070309020205020404" charset="0"/>
            </a:endParaRPr>
          </a:p>
        </p:txBody>
      </p:sp>
    </p:spTree>
    <p:custDataLst>
      <p:tags r:id="rId3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830705" y="5821680"/>
            <a:ext cx="103632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Rack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3290" y="701675"/>
            <a:ext cx="18688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2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charset="0"/>
                <a:cs typeface="Courier New" panose="02070309020205020404" charset="0"/>
              </a:rPr>
              <a:t>Open Source Lab</a:t>
            </a:r>
            <a:endParaRPr lang="en-US" altLang="zh-CN" sz="12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24" name="图片 23"/>
          <p:cNvPicPr/>
          <p:nvPr/>
        </p:nvPicPr>
        <p:blipFill>
          <a:blip r:embed="rId1"/>
          <a:stretch>
            <a:fillRect/>
          </a:stretch>
        </p:blipFill>
        <p:spPr>
          <a:xfrm>
            <a:off x="1148715" y="1534160"/>
            <a:ext cx="1718310" cy="422656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060" y="1832610"/>
            <a:ext cx="1612900" cy="105219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025" y="3922395"/>
            <a:ext cx="299720" cy="63944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595" y="3221355"/>
            <a:ext cx="590550" cy="42291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4462145" y="3359150"/>
            <a:ext cx="189547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DC/DC </a:t>
            </a: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Converter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1595" y="4839970"/>
            <a:ext cx="800735" cy="55943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2270" y="4938395"/>
            <a:ext cx="252095" cy="461010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1025" y="4155440"/>
            <a:ext cx="661035" cy="406400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2270" y="4129405"/>
            <a:ext cx="592455" cy="432435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9880" y="3221355"/>
            <a:ext cx="469900" cy="59499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267960" y="2235835"/>
            <a:ext cx="134429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Electrical Box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82135" y="4154170"/>
            <a:ext cx="88582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Relay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90440" y="4997450"/>
            <a:ext cx="123888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AC/DC Breaker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061835" y="3399790"/>
            <a:ext cx="189547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Emergency Swtich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7061835" y="5086350"/>
            <a:ext cx="285686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Surge/Lightning Protect Device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7331075" y="4243070"/>
            <a:ext cx="169354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Terminal/Connectors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0208260" y="4316730"/>
            <a:ext cx="133413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000">
                <a:latin typeface="Courier New" panose="02070309020205020404" charset="0"/>
                <a:cs typeface="Courier New" panose="02070309020205020404" charset="0"/>
              </a:rPr>
              <a:t>Various Cables</a:t>
            </a:r>
            <a:endParaRPr lang="en-US" altLang="zh-CN" sz="1000">
              <a:latin typeface="Courier New" panose="02070309020205020404" charset="0"/>
              <a:cs typeface="Courier New" panose="02070309020205020404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3582035" y="701675"/>
            <a:ext cx="3402330" cy="2552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ts val="1280"/>
              </a:lnSpc>
              <a:buClrTx/>
              <a:buSzTx/>
              <a:buFontTx/>
            </a:pPr>
            <a:r>
              <a:rPr lang="en-US" altLang="zh-CN" sz="14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Rack, Cabinet</a:t>
            </a:r>
            <a:r>
              <a:rPr lang="zh-CN" altLang="en-US" sz="14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，</a:t>
            </a:r>
            <a:r>
              <a:rPr lang="en-US" altLang="zh-CN" sz="1400">
                <a:solidFill>
                  <a:schemeClr val="tx1"/>
                </a:solidFill>
                <a:latin typeface="Courier New" panose="02070309020205020404" charset="0"/>
                <a:cs typeface="Courier New" panose="02070309020205020404" charset="0"/>
              </a:rPr>
              <a:t>Accessories</a:t>
            </a:r>
            <a:endParaRPr lang="en-US" altLang="zh-CN" sz="1400">
              <a:solidFill>
                <a:schemeClr val="tx1"/>
              </a:solidFill>
              <a:latin typeface="Courier New" panose="02070309020205020404" charset="0"/>
              <a:cs typeface="Courier New" panose="02070309020205020404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commondata" val="eyJoZGlkIjoiZmMwMDQ3NmU4NjU1OWFiNjEwNGQwZTA3YTg5MDBlN2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</Words>
  <Application>WPS 演示</Application>
  <PresentationFormat>宽屏</PresentationFormat>
  <Paragraphs>98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Courier New</vt:lpstr>
      <vt:lpstr>Bahnschrift SemiBold</vt:lpstr>
      <vt:lpstr>Microsoft YaHei UI</vt:lpstr>
      <vt:lpstr>微软雅黑</vt:lpstr>
      <vt:lpstr>Arial Unicode MS</vt:lpstr>
      <vt:lpstr>Calibri</vt:lpstr>
      <vt:lpstr>Gotham-Book</vt:lpstr>
      <vt:lpstr>AMGDT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WPS_1685937545</cp:lastModifiedBy>
  <cp:revision>447</cp:revision>
  <dcterms:created xsi:type="dcterms:W3CDTF">2019-06-19T02:08:00Z</dcterms:created>
  <dcterms:modified xsi:type="dcterms:W3CDTF">2025-09-27T20:57:15Z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D7BA876770A34E98855E256F14397A1E_11</vt:lpwstr>
  </property>
</Properties>
</file>